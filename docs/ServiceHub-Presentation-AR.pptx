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7315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 rtl="1"/>
            <a:r>
              <a:rPr sz="4400" b="1">
                <a:solidFill>
                  <a:srgbClr val="F4F8F6"/>
                </a:solidFill>
                <a:latin typeface="DejaVu Sans"/>
              </a:rPr>
              <a:t>ServiceHub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 rtl="1"/>
            <a:r>
              <a:rPr sz="2400" b="1">
                <a:solidFill>
                  <a:srgbClr val="62CDA6"/>
                </a:solidFill>
                <a:latin typeface="DejaVu Sans"/>
              </a:rPr>
              <a:t>منصة متعددة المزودين للخدمات</a:t>
            </a:r>
            <a:br/>
            <a:r>
              <a:rPr sz="2400" b="1">
                <a:solidFill>
                  <a:srgbClr val="62CDA6"/>
                </a:solidFill>
                <a:latin typeface="DejaVu Sans"/>
              </a:rPr>
              <a:t>اكتشاف · حجز آمن · دفع · تشغيل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0"/>
            <a:ext cx="3749039" cy="731520"/>
          </a:xfrm>
          <a:prstGeom prst="roundRect">
            <a:avLst/>
          </a:prstGeom>
          <a:solidFill>
            <a:srgbClr val="152B2B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4206240"/>
            <a:ext cx="356616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 rtl="1"/>
            <a:r>
              <a:rPr sz="1600" b="1">
                <a:solidFill>
                  <a:srgbClr val="F4F8F6"/>
                </a:solidFill>
                <a:latin typeface="DejaVu Sans"/>
              </a:rPr>
              <a:t>MVP للـ portfolio · يوليو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114800"/>
            <a:ext cx="3749039" cy="731520"/>
          </a:xfrm>
          <a:prstGeom prst="roundRect">
            <a:avLst/>
          </a:prstGeom>
          <a:solidFill>
            <a:srgbClr val="152B2B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4206240"/>
            <a:ext cx="356616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 rtl="1"/>
            <a:r>
              <a:rPr sz="1600" b="1">
                <a:solidFill>
                  <a:srgbClr val="F4F8F6"/>
                </a:solidFill>
                <a:latin typeface="DejaVu Sans"/>
              </a:rPr>
              <a:t>عميل · مزود خدمة · إدارة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2800" b="1">
                <a:solidFill>
                  <a:srgbClr val="F4F8F6"/>
                </a:solidFill>
                <a:latin typeface="DejaVu Sans"/>
              </a:rPr>
              <a:t>المشكلة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400" b="0">
                <a:solidFill>
                  <a:srgbClr val="B5C9C3"/>
                </a:solidFill>
                <a:latin typeface="DejaVu Sans"/>
              </a:rPr>
              <a:t>الحجز المحلي غالباً عملية متفرقة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7276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العميل ينتقل بين الرسائل والمكالمات والتقاويم المنفصلة.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24328"/>
            <a:ext cx="2148840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مزود الخدمة لا يملك رؤية تشغيلية موحدة.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675887"/>
            <a:ext cx="2148840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989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تعارض المواعيد قد يسبب فشلًا مكلفًا في الخدمة.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72744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9145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الإدارة تحتاج اعتماد المزودين ومؤشرات ونزاعات واضحة.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02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عرض المنتج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2800" b="1">
                <a:solidFill>
                  <a:srgbClr val="F4F8F6"/>
                </a:solidFill>
                <a:latin typeface="DejaVu Sans"/>
              </a:rPr>
              <a:t>القيمة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400" b="0">
                <a:solidFill>
                  <a:srgbClr val="B5C9C3"/>
                </a:solidFill>
                <a:latin typeface="DejaVu Sans"/>
              </a:rPr>
              <a:t>رحلة خدمة واحدة مترابطة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7276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اكتشاف المزودين حسب الفئة والسعر والتقييم والخدمة.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24328"/>
            <a:ext cx="2148840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اختيار موعد متاح مع hold زمني محمي.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675887"/>
            <a:ext cx="2148840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989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الدفع عبر طبقة provider قابلة للتبديل.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72744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9145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الحجوزات والرسائل والمراجعات والتحديثات في مكان واحد.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03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عرض المنتج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2800" b="1">
                <a:solidFill>
                  <a:srgbClr val="F4F8F6"/>
                </a:solidFill>
                <a:latin typeface="DejaVu Sans"/>
              </a:rPr>
              <a:t>الأدوار الثلاثة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400" b="0">
                <a:solidFill>
                  <a:srgbClr val="B5C9C3"/>
                </a:solidFill>
                <a:latin typeface="DejaVu Sans"/>
              </a:rPr>
              <a:t>تجربة مركزة لكل طرف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7276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العميل: اكتشاف، حجز، إلغاء، تقييم، رسائل، وإشعارات.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24328"/>
            <a:ext cx="2148840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المزود: خدمات، توفر أسبوعي، استثناءات، حجوزات، وتشغيل.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675887"/>
            <a:ext cx="2148840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989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الإدارة: حالة المزودين، مؤشرات السوق، تقارير، نزاعات، وفئات.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04  ·  ServiceHub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عرض المنتج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2800" b="1">
                <a:solidFill>
                  <a:srgbClr val="F4F8F6"/>
                </a:solidFill>
                <a:latin typeface="DejaVu Sans"/>
              </a:rPr>
              <a:t>رحلة العميل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400" b="0">
                <a:solidFill>
                  <a:srgbClr val="B5C9C3"/>
                </a:solidFill>
                <a:latin typeface="DejaVu Sans"/>
              </a:rPr>
              <a:t>مسار واضح وقابل للمراجعة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7276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البحث ثم قراءة صفحة مزود الخدمة.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24328"/>
            <a:ext cx="2148840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اختيار الخدمة والتاريخ والموعد المتاح.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675887"/>
            <a:ext cx="2148840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989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حجز مؤقت لخمس دقائق أثناء الدفع.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72744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9145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تأكيد وإشعارات ثم تقييم بعد حجز مؤهل.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05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عرض المنتج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2800" b="1">
                <a:solidFill>
                  <a:srgbClr val="F4F8F6"/>
                </a:solidFill>
                <a:latin typeface="DejaVu Sans"/>
              </a:rPr>
              <a:t>موثوقية الحجز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400" b="0">
                <a:solidFill>
                  <a:srgbClr val="B5C9C3"/>
                </a:solidFill>
                <a:latin typeface="DejaVu Sans"/>
              </a:rPr>
              <a:t>قاعدة البيانات هي مصدر الحقيقة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7276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قيد PostgreSQL EXCLUDE USING gist يمنع تداخل الحجوزات النشطة للمزود.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24328"/>
            <a:ext cx="2148840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الـ API يحوّل التعارض إلى استجابة مفهومة للعميل.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675887"/>
            <a:ext cx="2148840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989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الحجوزات المؤقتة المنتهية تُحرّرها دورة حياة المجال.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72744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9145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النموذج مصمم ليبقى صحيحًا مع الطلبات المتزامنة.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06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عرض المنتج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2800" b="1">
                <a:solidFill>
                  <a:srgbClr val="F4F8F6"/>
                </a:solidFill>
                <a:latin typeface="DejaVu Sans"/>
              </a:rPr>
              <a:t>المعمارية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400" b="0">
                <a:solidFill>
                  <a:srgbClr val="B5C9C3"/>
                </a:solidFill>
                <a:latin typeface="DejaVu Sans"/>
              </a:rPr>
              <a:t>طبقات منفصلة ووحدات قابلة للاختبار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7276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Next.js 14 للواجهات حسب الدور.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24328"/>
            <a:ext cx="2148840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NestJS 11 API لمجالات auth والخدمات والتوفر والحجز والدفع والإدارة.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675887"/>
            <a:ext cx="2148840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989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Prisma 5 وPostgreSQL 16 للمعاملات وschema وmigrations.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72744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9145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Mock للتطوير وواجهة Stripe لمسار إنتاج مضبوط.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07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عرض المنتج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2800" b="1">
                <a:solidFill>
                  <a:srgbClr val="F4F8F6"/>
                </a:solidFill>
                <a:latin typeface="DejaVu Sans"/>
              </a:rPr>
              <a:t>خط الأساس الأمني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400" b="0">
                <a:solidFill>
                  <a:srgbClr val="B5C9C3"/>
                </a:solidFill>
                <a:latin typeface="DejaVu Sans"/>
              </a:rPr>
              <a:t>الحماية جزء من عقد المنتج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7276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Role guards وفحوص ownership وIDOR للمسارات الحساسة.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24328"/>
            <a:ext cx="2148840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bcrypt وrevocation وthrottling وvalidation داخل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675887"/>
            <a:ext cx="2148840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989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تغطية CsrfGuard لطلبات التعديل مع cookie-auth.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72744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9145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Webhook raw body وحالات دفع idempotent.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08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عرض المنتج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2800" b="1">
                <a:solidFill>
                  <a:srgbClr val="F4F8F6"/>
                </a:solidFill>
                <a:latin typeface="DejaVu Sans"/>
              </a:rPr>
              <a:t>دليل الجودة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400" b="0">
                <a:solidFill>
                  <a:srgbClr val="B5C9C3"/>
                </a:solidFill>
                <a:latin typeface="DejaVu Sans"/>
              </a:rPr>
              <a:t>ما تم التحقق منه فعليًا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7276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16 يوليو 2026: نجاح 15 API test suites.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24328"/>
            <a:ext cx="2148840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نجاح 220 API tests دون snapshots فاشلة.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675887"/>
            <a:ext cx="2148840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989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هذا الدليل يثبت السلوك المختبَر، لا نشرًا عامًا.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72744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9145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Browser QA والتكاملات الخارجية والنشر لها بوابات مستقلة.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09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عرض المنتج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2800" b="1">
                <a:solidFill>
                  <a:srgbClr val="F4F8F6"/>
                </a:solidFill>
                <a:latin typeface="DejaVu Sans"/>
              </a:rPr>
              <a:t>حدود العرض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400" b="0">
                <a:solidFill>
                  <a:srgbClr val="B5C9C3"/>
                </a:solidFill>
                <a:latin typeface="DejaVu Sans"/>
              </a:rPr>
              <a:t>الوضوح يبني الثقة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7276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PAYMENTS_PROVIDER=mock للتطوير والعرض فقط.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24328"/>
            <a:ext cx="2148840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Google (Demo) محاكاة محلية وليس OAuth حقيقيًا.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675887"/>
            <a:ext cx="2148840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989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Stripe الحقيقي يتطلب secrets وwebhooks ونشرًا وE2E.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72744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9145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لا ادعاء بأن المنصة الآن سوق عام أو تعالج مدفوعات حقيقية.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10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عرض المنتج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2800" b="1">
                <a:solidFill>
                  <a:srgbClr val="F4F8F6"/>
                </a:solidFill>
                <a:latin typeface="DejaVu Sans"/>
              </a:rPr>
              <a:t>الخطوات التالية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400" b="0">
                <a:solidFill>
                  <a:srgbClr val="B5C9C3"/>
                </a:solidFill>
                <a:latin typeface="DejaVu Sans"/>
              </a:rPr>
              <a:t>من MVP مكتمل إلى Release Candidate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57276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Browser acceptance بالعربية RTL والإنجليزية LTR.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24328"/>
            <a:ext cx="2148840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8833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اختبار Stripe test mode والبريد وwebhooks فعليًا.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675887"/>
            <a:ext cx="2148840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989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CI ونشر قابل للتكرار وbackup/restore وmonitoring وperformance.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727448"/>
            <a:ext cx="2148840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91456"/>
            <a:ext cx="78181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 rtl="1"/>
            <a:r>
              <a:rPr sz="1800" b="0">
                <a:solidFill>
                  <a:srgbClr val="F4F8F6"/>
                </a:solidFill>
                <a:latin typeface="DejaVu Sans"/>
              </a:rPr>
              <a:t>جمع feedback قبل توسيع النطاق التجاري.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11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عرض المنتج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 rtl="1"/>
            <a:r>
              <a:rPr sz="4200" b="1">
                <a:solidFill>
                  <a:srgbClr val="62CDA6"/>
                </a:solidFill>
                <a:latin typeface="DejaVu Sans"/>
              </a:rPr>
              <a:t>شكرًا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 rtl="1"/>
            <a:r>
              <a:rPr sz="2500" b="1">
                <a:solidFill>
                  <a:srgbClr val="F4F8F6"/>
                </a:solidFill>
                <a:latin typeface="DejaVu Sans"/>
              </a:rPr>
              <a:t>ServiceHub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9418320" cy="1005840"/>
          </a:xfrm>
          <a:prstGeom prst="roundRect">
            <a:avLst/>
          </a:prstGeom>
          <a:solidFill>
            <a:srgbClr val="152B2B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840480"/>
            <a:ext cx="886968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 rtl="1"/>
            <a:r>
              <a:rPr sz="1600" b="0">
                <a:solidFill>
                  <a:srgbClr val="B5C9C3"/>
                </a:solidFill>
                <a:latin typeface="DejaVu Sans"/>
              </a:rPr>
              <a:t>اكتشاف أوضح للخدمات. حجز أضمن. تشغيل أذكى.</a:t>
            </a:r>
            <a:br/>
            <a:r>
              <a:rPr sz="1600" b="0">
                <a:solidFill>
                  <a:srgbClr val="B5C9C3"/>
                </a:solidFill>
                <a:latin typeface="DejaVu Sans"/>
              </a:rPr>
              <a:t>التوثيق متاح بالإنجليزية والعربية والبرتغالية البرازيلية.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
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2C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143000"/>
            <a:ext cx="10332720" cy="7315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4400" b="1">
                <a:solidFill>
                  <a:srgbClr val="F4F8F6"/>
                </a:solidFill>
                <a:latin typeface="DejaVu Sans"/>
              </a:rPr>
              <a:t>ServiceHub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7772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400" b="1">
                <a:solidFill>
                  <a:srgbClr val="62CDA6"/>
                </a:solidFill>
                <a:latin typeface="DejaVu Sans"/>
              </a:rPr>
              <a:t>A multi-vendor services marketplace</a:t>
            </a:r>
            <a:br/>
            <a:r>
              <a:rPr sz="2400" b="1">
                <a:solidFill>
                  <a:srgbClr val="62CDA6"/>
                </a:solidFill>
                <a:latin typeface="DejaVu Sans"/>
              </a:rPr>
              <a:t>Discovery · safe booking · payments · operations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4114800"/>
            <a:ext cx="3749039" cy="731520"/>
          </a:xfrm>
          <a:prstGeom prst="roundRect">
            <a:avLst/>
          </a:prstGeom>
          <a:solidFill>
            <a:srgbClr val="152B2B"/>
          </a:solidFill>
          <a:ln>
            <a:solidFill>
              <a:srgbClr val="62C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20240" y="4206240"/>
            <a:ext cx="3566160" cy="5029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600" b="1">
                <a:solidFill>
                  <a:srgbClr val="F4F8F6"/>
                </a:solidFill>
                <a:latin typeface="DejaVu Sans"/>
              </a:rPr>
              <a:t>Portfolio MVP · July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4114800"/>
            <a:ext cx="3749039" cy="731520"/>
          </a:xfrm>
          <a:prstGeom prst="roundRect">
            <a:avLst/>
          </a:prstGeom>
          <a:solidFill>
            <a:srgbClr val="152B2B"/>
          </a:solidFill>
          <a:ln>
            <a:solidFill>
              <a:srgbClr val="EAB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4206240"/>
            <a:ext cx="3566160" cy="5029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600" b="1">
                <a:solidFill>
                  <a:srgbClr val="F4F8F6"/>
                </a:solidFill>
                <a:latin typeface="DejaVu Sans"/>
              </a:rPr>
              <a:t>Customer · Vendor · Admin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2C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10881360" cy="4572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800" b="1">
                <a:solidFill>
                  <a:srgbClr val="F4F8F6"/>
                </a:solidFill>
                <a:latin typeface="DejaVu Sans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60120"/>
            <a:ext cx="10744200" cy="3200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400" b="0">
                <a:solidFill>
                  <a:srgbClr val="B5C9C3"/>
                </a:solidFill>
                <a:latin typeface="DejaVu Sans"/>
              </a:rPr>
              <a:t>Local booking is fragmented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572768"/>
            <a:ext cx="658368" cy="658368"/>
          </a:xfrm>
          <a:prstGeom prst="roundRect">
            <a:avLst/>
          </a:prstGeom>
          <a:solidFill>
            <a:srgbClr val="62CDA6"/>
          </a:solidFill>
          <a:ln>
            <a:solidFill>
              <a:srgbClr val="62C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1627632"/>
            <a:ext cx="9235440" cy="521207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>
                <a:solidFill>
                  <a:srgbClr val="F4F8F6"/>
                </a:solidFill>
                <a:latin typeface="DejaVu Sans"/>
              </a:rPr>
              <a:t>Customers move between messages, calls, and disconnected calendars.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624328"/>
            <a:ext cx="658368" cy="658368"/>
          </a:xfrm>
          <a:prstGeom prst="roundRect">
            <a:avLst/>
          </a:prstGeom>
          <a:solidFill>
            <a:srgbClr val="EABB5E"/>
          </a:solidFill>
          <a:ln>
            <a:solidFill>
              <a:srgbClr val="EAB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2679192"/>
            <a:ext cx="9235440" cy="521207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>
                <a:solidFill>
                  <a:srgbClr val="F4F8F6"/>
                </a:solidFill>
                <a:latin typeface="DejaVu Sans"/>
              </a:rPr>
              <a:t>Providers lack one trusted operational view.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675887"/>
            <a:ext cx="658368" cy="658368"/>
          </a:xfrm>
          <a:prstGeom prst="roundRect">
            <a:avLst/>
          </a:prstGeom>
          <a:solidFill>
            <a:srgbClr val="A8B2FF"/>
          </a:solidFill>
          <a:ln>
            <a:solidFill>
              <a:srgbClr val="A8B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3730751"/>
            <a:ext cx="9235440" cy="521207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>
                <a:solidFill>
                  <a:srgbClr val="F4F8F6"/>
                </a:solidFill>
                <a:latin typeface="DejaVu Sans"/>
              </a:rPr>
              <a:t>Overlapping slots create expensive service failures.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727448"/>
            <a:ext cx="658368" cy="658368"/>
          </a:xfrm>
          <a:prstGeom prst="roundRect">
            <a:avLst/>
          </a:prstGeom>
          <a:solidFill>
            <a:srgbClr val="62CDA6"/>
          </a:solidFill>
          <a:ln>
            <a:solidFill>
              <a:srgbClr val="62C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4782312"/>
            <a:ext cx="9235440" cy="521207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>
                <a:solidFill>
                  <a:srgbClr val="F4F8F6"/>
                </a:solidFill>
                <a:latin typeface="DejaVu Sans"/>
              </a:rPr>
              <a:t>Administrators need approvals, metrics, and dispute visibility.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19088"/>
            <a:ext cx="310896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>
                <a:solidFill>
                  <a:srgbClr val="B5C9C3"/>
                </a:solidFill>
                <a:latin typeface="DejaVu Sans"/>
              </a:rPr>
              <a:t>02  ·  ServiceHub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6419088"/>
            <a:ext cx="329184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>
                <a:solidFill>
                  <a:srgbClr val="B5C9C3"/>
                </a:solidFill>
                <a:latin typeface="DejaVu Sans"/>
              </a:rPr>
              <a:t>PRODUCT PRESENTATION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2C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10881360" cy="4572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800" b="1">
                <a:solidFill>
                  <a:srgbClr val="F4F8F6"/>
                </a:solidFill>
                <a:latin typeface="DejaVu Sans"/>
              </a:rPr>
              <a:t>The value proposition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60120"/>
            <a:ext cx="10744200" cy="3200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400" b="0">
                <a:solidFill>
                  <a:srgbClr val="B5C9C3"/>
                </a:solidFill>
                <a:latin typeface="DejaVu Sans"/>
              </a:rPr>
              <a:t>One connected service journey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572768"/>
            <a:ext cx="658368" cy="658368"/>
          </a:xfrm>
          <a:prstGeom prst="roundRect">
            <a:avLst/>
          </a:prstGeom>
          <a:solidFill>
            <a:srgbClr val="62CDA6"/>
          </a:solidFill>
          <a:ln>
            <a:solidFill>
              <a:srgbClr val="62C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1627632"/>
            <a:ext cx="9235440" cy="521207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>
                <a:solidFill>
                  <a:srgbClr val="F4F8F6"/>
                </a:solidFill>
                <a:latin typeface="DejaVu Sans"/>
              </a:rPr>
              <a:t>Discover providers by category, price, rating, and service.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624328"/>
            <a:ext cx="658368" cy="658368"/>
          </a:xfrm>
          <a:prstGeom prst="roundRect">
            <a:avLst/>
          </a:prstGeom>
          <a:solidFill>
            <a:srgbClr val="EABB5E"/>
          </a:solidFill>
          <a:ln>
            <a:solidFill>
              <a:srgbClr val="EAB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2679192"/>
            <a:ext cx="9235440" cy="521207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>
                <a:solidFill>
                  <a:srgbClr val="F4F8F6"/>
                </a:solidFill>
                <a:latin typeface="DejaVu Sans"/>
              </a:rPr>
              <a:t>Choose an available slot and create a protected timed hold.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675887"/>
            <a:ext cx="658368" cy="658368"/>
          </a:xfrm>
          <a:prstGeom prst="roundRect">
            <a:avLst/>
          </a:prstGeom>
          <a:solidFill>
            <a:srgbClr val="A8B2FF"/>
          </a:solidFill>
          <a:ln>
            <a:solidFill>
              <a:srgbClr val="A8B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3730751"/>
            <a:ext cx="9235440" cy="521207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>
                <a:solidFill>
                  <a:srgbClr val="F4F8F6"/>
                </a:solidFill>
                <a:latin typeface="DejaVu Sans"/>
              </a:rPr>
              <a:t>Complete payment through a provider boundary.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727448"/>
            <a:ext cx="658368" cy="658368"/>
          </a:xfrm>
          <a:prstGeom prst="roundRect">
            <a:avLst/>
          </a:prstGeom>
          <a:solidFill>
            <a:srgbClr val="62CDA6"/>
          </a:solidFill>
          <a:ln>
            <a:solidFill>
              <a:srgbClr val="62C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4782312"/>
            <a:ext cx="9235440" cy="521207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>
                <a:solidFill>
                  <a:srgbClr val="F4F8F6"/>
                </a:solidFill>
                <a:latin typeface="DejaVu Sans"/>
              </a:rPr>
              <a:t>Keep bookings, messaging, reviews, and updates in one place.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19088"/>
            <a:ext cx="310896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>
                <a:solidFill>
                  <a:srgbClr val="B5C9C3"/>
                </a:solidFill>
                <a:latin typeface="DejaVu Sans"/>
              </a:rPr>
              <a:t>03  ·  ServiceHub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6419088"/>
            <a:ext cx="329184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>
                <a:solidFill>
                  <a:srgbClr val="B5C9C3"/>
                </a:solidFill>
                <a:latin typeface="DejaVu Sans"/>
              </a:rPr>
              <a:t>PRODUCT PRESENTATION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2C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10881360" cy="4572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800" b="1">
                <a:solidFill>
                  <a:srgbClr val="F4F8F6"/>
                </a:solidFill>
                <a:latin typeface="DejaVu Sans"/>
              </a:rPr>
              <a:t>Three product roles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60120"/>
            <a:ext cx="10744200" cy="3200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400" b="0">
                <a:solidFill>
                  <a:srgbClr val="B5C9C3"/>
                </a:solidFill>
                <a:latin typeface="DejaVu Sans"/>
              </a:rPr>
              <a:t>A focused experience for each participant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572768"/>
            <a:ext cx="658368" cy="658368"/>
          </a:xfrm>
          <a:prstGeom prst="roundRect">
            <a:avLst/>
          </a:prstGeom>
          <a:solidFill>
            <a:srgbClr val="62CDA6"/>
          </a:solidFill>
          <a:ln>
            <a:solidFill>
              <a:srgbClr val="62C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1627632"/>
            <a:ext cx="9235440" cy="521207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>
                <a:solidFill>
                  <a:srgbClr val="F4F8F6"/>
                </a:solidFill>
                <a:latin typeface="DejaVu Sans"/>
              </a:rPr>
              <a:t>Customer: discovery, booking, cancellation, review, messages, notifications.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624328"/>
            <a:ext cx="658368" cy="658368"/>
          </a:xfrm>
          <a:prstGeom prst="roundRect">
            <a:avLst/>
          </a:prstGeom>
          <a:solidFill>
            <a:srgbClr val="EABB5E"/>
          </a:solidFill>
          <a:ln>
            <a:solidFill>
              <a:srgbClr val="EAB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2679192"/>
            <a:ext cx="9235440" cy="521207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>
                <a:solidFill>
                  <a:srgbClr val="F4F8F6"/>
                </a:solidFill>
                <a:latin typeface="DejaVu Sans"/>
              </a:rPr>
              <a:t>Vendor: services, weekly availability, exceptions, reservations, operations.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675887"/>
            <a:ext cx="658368" cy="658368"/>
          </a:xfrm>
          <a:prstGeom prst="roundRect">
            <a:avLst/>
          </a:prstGeom>
          <a:solidFill>
            <a:srgbClr val="A8B2FF"/>
          </a:solidFill>
          <a:ln>
            <a:solidFill>
              <a:srgbClr val="A8B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3730751"/>
            <a:ext cx="9235440" cy="521207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>
                <a:solidFill>
                  <a:srgbClr val="F4F8F6"/>
                </a:solidFill>
                <a:latin typeface="DejaVu Sans"/>
              </a:rPr>
              <a:t>Admin: vendor status, marketplace KPIs, reports, disputes, and categories.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19088"/>
            <a:ext cx="310896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>
                <a:solidFill>
                  <a:srgbClr val="B5C9C3"/>
                </a:solidFill>
                <a:latin typeface="DejaVu Sans"/>
              </a:rPr>
              <a:t>04  ·  ServiceHub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6419088"/>
            <a:ext cx="329184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>
                <a:solidFill>
                  <a:srgbClr val="B5C9C3"/>
                </a:solidFill>
                <a:latin typeface="DejaVu Sans"/>
              </a:rPr>
              <a:t>PRODUCT PRESENTATION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2C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10881360" cy="4572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800" b="1">
                <a:solidFill>
                  <a:srgbClr val="F4F8F6"/>
                </a:solidFill>
                <a:latin typeface="DejaVu Sans"/>
              </a:rPr>
              <a:t>Customer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60120"/>
            <a:ext cx="10744200" cy="3200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400" b="0">
                <a:solidFill>
                  <a:srgbClr val="B5C9C3"/>
                </a:solidFill>
                <a:latin typeface="DejaVu Sans"/>
              </a:rPr>
              <a:t>Designed as a clear, auditable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572768"/>
            <a:ext cx="658368" cy="658368"/>
          </a:xfrm>
          <a:prstGeom prst="roundRect">
            <a:avLst/>
          </a:prstGeom>
          <a:solidFill>
            <a:srgbClr val="62CDA6"/>
          </a:solidFill>
          <a:ln>
            <a:solidFill>
              <a:srgbClr val="62C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1627632"/>
            <a:ext cx="9235440" cy="521207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>
                <a:solidFill>
                  <a:srgbClr val="F4F8F6"/>
                </a:solidFill>
                <a:latin typeface="DejaVu Sans"/>
              </a:rPr>
              <a:t>Search and inspect a provider profile.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624328"/>
            <a:ext cx="658368" cy="658368"/>
          </a:xfrm>
          <a:prstGeom prst="roundRect">
            <a:avLst/>
          </a:prstGeom>
          <a:solidFill>
            <a:srgbClr val="EABB5E"/>
          </a:solidFill>
          <a:ln>
            <a:solidFill>
              <a:srgbClr val="EAB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2679192"/>
            <a:ext cx="9235440" cy="521207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>
                <a:solidFill>
                  <a:srgbClr val="F4F8F6"/>
                </a:solidFill>
                <a:latin typeface="DejaVu Sans"/>
              </a:rPr>
              <a:t>Pick a service, date, and available time slot.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675887"/>
            <a:ext cx="658368" cy="658368"/>
          </a:xfrm>
          <a:prstGeom prst="roundRect">
            <a:avLst/>
          </a:prstGeom>
          <a:solidFill>
            <a:srgbClr val="A8B2FF"/>
          </a:solidFill>
          <a:ln>
            <a:solidFill>
              <a:srgbClr val="A8B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3730751"/>
            <a:ext cx="9235440" cy="521207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>
                <a:solidFill>
                  <a:srgbClr val="F4F8F6"/>
                </a:solidFill>
                <a:latin typeface="DejaVu Sans"/>
              </a:rPr>
              <a:t>Reserve for five minutes while payment is in progress.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727448"/>
            <a:ext cx="658368" cy="658368"/>
          </a:xfrm>
          <a:prstGeom prst="roundRect">
            <a:avLst/>
          </a:prstGeom>
          <a:solidFill>
            <a:srgbClr val="62CDA6"/>
          </a:solidFill>
          <a:ln>
            <a:solidFill>
              <a:srgbClr val="62C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4782312"/>
            <a:ext cx="9235440" cy="521207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>
                <a:solidFill>
                  <a:srgbClr val="F4F8F6"/>
                </a:solidFill>
                <a:latin typeface="DejaVu Sans"/>
              </a:rPr>
              <a:t>Confirm, receive notifications, then review after an eligible booking.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19088"/>
            <a:ext cx="310896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>
                <a:solidFill>
                  <a:srgbClr val="B5C9C3"/>
                </a:solidFill>
                <a:latin typeface="DejaVu Sans"/>
              </a:rPr>
              <a:t>05  ·  ServiceHub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6419088"/>
            <a:ext cx="329184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>
                <a:solidFill>
                  <a:srgbClr val="B5C9C3"/>
                </a:solidFill>
                <a:latin typeface="DejaVu Sans"/>
              </a:rPr>
              <a:t>PRODUCT PRESENTATION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2C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10881360" cy="4572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800" b="1">
                <a:solidFill>
                  <a:srgbClr val="F4F8F6"/>
                </a:solidFill>
                <a:latin typeface="DejaVu Sans"/>
              </a:rPr>
              <a:t>Booking reliability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60120"/>
            <a:ext cx="10744200" cy="3200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400" b="0">
                <a:solidFill>
                  <a:srgbClr val="B5C9C3"/>
                </a:solidFill>
                <a:latin typeface="DejaVu Sans"/>
              </a:rPr>
              <a:t>The database is the final authority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572768"/>
            <a:ext cx="658368" cy="658368"/>
          </a:xfrm>
          <a:prstGeom prst="roundRect">
            <a:avLst/>
          </a:prstGeom>
          <a:solidFill>
            <a:srgbClr val="62CDA6"/>
          </a:solidFill>
          <a:ln>
            <a:solidFill>
              <a:srgbClr val="62C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1627632"/>
            <a:ext cx="9235440" cy="521207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>
                <a:solidFill>
                  <a:srgbClr val="F4F8F6"/>
                </a:solidFill>
                <a:latin typeface="DejaVu Sans"/>
              </a:rPr>
              <a:t>PostgreSQL EXCLUDE USING gist prevents overlapping active bookings per provider.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624328"/>
            <a:ext cx="658368" cy="658368"/>
          </a:xfrm>
          <a:prstGeom prst="roundRect">
            <a:avLst/>
          </a:prstGeom>
          <a:solidFill>
            <a:srgbClr val="EABB5E"/>
          </a:solidFill>
          <a:ln>
            <a:solidFill>
              <a:srgbClr val="EAB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2679192"/>
            <a:ext cx="9235440" cy="521207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>
                <a:solidFill>
                  <a:srgbClr val="F4F8F6"/>
                </a:solidFill>
                <a:latin typeface="DejaVu Sans"/>
              </a:rPr>
              <a:t>The API also translates conflicts into a predictable client response.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675887"/>
            <a:ext cx="658368" cy="658368"/>
          </a:xfrm>
          <a:prstGeom prst="roundRect">
            <a:avLst/>
          </a:prstGeom>
          <a:solidFill>
            <a:srgbClr val="A8B2FF"/>
          </a:solidFill>
          <a:ln>
            <a:solidFill>
              <a:srgbClr val="A8B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3730751"/>
            <a:ext cx="9235440" cy="521207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>
                <a:solidFill>
                  <a:srgbClr val="F4F8F6"/>
                </a:solidFill>
                <a:latin typeface="DejaVu Sans"/>
              </a:rPr>
              <a:t>Expired payment holds are released by the domain lifecycle.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727448"/>
            <a:ext cx="658368" cy="658368"/>
          </a:xfrm>
          <a:prstGeom prst="roundRect">
            <a:avLst/>
          </a:prstGeom>
          <a:solidFill>
            <a:srgbClr val="62CDA6"/>
          </a:solidFill>
          <a:ln>
            <a:solidFill>
              <a:srgbClr val="62C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4782312"/>
            <a:ext cx="9235440" cy="521207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>
                <a:solidFill>
                  <a:srgbClr val="F4F8F6"/>
                </a:solidFill>
                <a:latin typeface="DejaVu Sans"/>
              </a:rPr>
              <a:t>The model is designed to remain correct under concurrent requests.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19088"/>
            <a:ext cx="310896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>
                <a:solidFill>
                  <a:srgbClr val="B5C9C3"/>
                </a:solidFill>
                <a:latin typeface="DejaVu Sans"/>
              </a:rPr>
              <a:t>06  ·  ServiceHub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6419088"/>
            <a:ext cx="329184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>
                <a:solidFill>
                  <a:srgbClr val="B5C9C3"/>
                </a:solidFill>
                <a:latin typeface="DejaVu Sans"/>
              </a:rPr>
              <a:t>PRODUCT PRESENTATION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2C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10881360" cy="4572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800" b="1">
                <a:solidFill>
                  <a:srgbClr val="F4F8F6"/>
                </a:solidFill>
                <a:latin typeface="DejaVu Sans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60120"/>
            <a:ext cx="10744200" cy="3200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400" b="0">
                <a:solidFill>
                  <a:srgbClr val="B5C9C3"/>
                </a:solidFill>
                <a:latin typeface="DejaVu Sans"/>
              </a:rPr>
              <a:t>Separated layers, testable domain modules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572768"/>
            <a:ext cx="658368" cy="658368"/>
          </a:xfrm>
          <a:prstGeom prst="roundRect">
            <a:avLst/>
          </a:prstGeom>
          <a:solidFill>
            <a:srgbClr val="62CDA6"/>
          </a:solidFill>
          <a:ln>
            <a:solidFill>
              <a:srgbClr val="62C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1627632"/>
            <a:ext cx="9235440" cy="521207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>
                <a:solidFill>
                  <a:srgbClr val="F4F8F6"/>
                </a:solidFill>
                <a:latin typeface="DejaVu Sans"/>
              </a:rPr>
              <a:t>Next.js 14 web application for all role-based journeys.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624328"/>
            <a:ext cx="658368" cy="658368"/>
          </a:xfrm>
          <a:prstGeom prst="roundRect">
            <a:avLst/>
          </a:prstGeom>
          <a:solidFill>
            <a:srgbClr val="EABB5E"/>
          </a:solidFill>
          <a:ln>
            <a:solidFill>
              <a:srgbClr val="EAB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2679192"/>
            <a:ext cx="9235440" cy="521207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>
                <a:solidFill>
                  <a:srgbClr val="F4F8F6"/>
                </a:solidFill>
                <a:latin typeface="DejaVu Sans"/>
              </a:rPr>
              <a:t>NestJS 11 REST API for auth, catalog, availability, booking, payment, and admin domains.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675887"/>
            <a:ext cx="658368" cy="658368"/>
          </a:xfrm>
          <a:prstGeom prst="roundRect">
            <a:avLst/>
          </a:prstGeom>
          <a:solidFill>
            <a:srgbClr val="A8B2FF"/>
          </a:solidFill>
          <a:ln>
            <a:solidFill>
              <a:srgbClr val="A8B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3730751"/>
            <a:ext cx="9235440" cy="521207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>
                <a:solidFill>
                  <a:srgbClr val="F4F8F6"/>
                </a:solidFill>
                <a:latin typeface="DejaVu Sans"/>
              </a:rPr>
              <a:t>Prisma 5 and PostgreSQL 16 for transactions, schema, and migrations.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727448"/>
            <a:ext cx="658368" cy="658368"/>
          </a:xfrm>
          <a:prstGeom prst="roundRect">
            <a:avLst/>
          </a:prstGeom>
          <a:solidFill>
            <a:srgbClr val="62CDA6"/>
          </a:solidFill>
          <a:ln>
            <a:solidFill>
              <a:srgbClr val="62C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4782312"/>
            <a:ext cx="9235440" cy="521207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>
                <a:solidFill>
                  <a:srgbClr val="F4F8F6"/>
                </a:solidFill>
                <a:latin typeface="DejaVu Sans"/>
              </a:rPr>
              <a:t>Mock provider for development; Stripe boundary for a properly configured production path.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19088"/>
            <a:ext cx="310896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>
                <a:solidFill>
                  <a:srgbClr val="B5C9C3"/>
                </a:solidFill>
                <a:latin typeface="DejaVu Sans"/>
              </a:rPr>
              <a:t>07  ·  ServiceHub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6419088"/>
            <a:ext cx="329184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>
                <a:solidFill>
                  <a:srgbClr val="B5C9C3"/>
                </a:solidFill>
                <a:latin typeface="DejaVu Sans"/>
              </a:rPr>
              <a:t>PRODUCT PRESENTATION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2C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10881360" cy="4572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800" b="1">
                <a:solidFill>
                  <a:srgbClr val="F4F8F6"/>
                </a:solidFill>
                <a:latin typeface="DejaVu Sans"/>
              </a:rPr>
              <a:t>Security 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60120"/>
            <a:ext cx="10744200" cy="3200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400" b="0">
                <a:solidFill>
                  <a:srgbClr val="B5C9C3"/>
                </a:solidFill>
                <a:latin typeface="DejaVu Sans"/>
              </a:rPr>
              <a:t>Protection is part of the product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572768"/>
            <a:ext cx="658368" cy="658368"/>
          </a:xfrm>
          <a:prstGeom prst="roundRect">
            <a:avLst/>
          </a:prstGeom>
          <a:solidFill>
            <a:srgbClr val="62CDA6"/>
          </a:solidFill>
          <a:ln>
            <a:solidFill>
              <a:srgbClr val="62C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1627632"/>
            <a:ext cx="9235440" cy="521207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>
                <a:solidFill>
                  <a:srgbClr val="F4F8F6"/>
                </a:solidFill>
                <a:latin typeface="DejaVu Sans"/>
              </a:rPr>
              <a:t>Role guards and ownership / IDOR checks protect sensitive actions.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624328"/>
            <a:ext cx="658368" cy="658368"/>
          </a:xfrm>
          <a:prstGeom prst="roundRect">
            <a:avLst/>
          </a:prstGeom>
          <a:solidFill>
            <a:srgbClr val="EABB5E"/>
          </a:solidFill>
          <a:ln>
            <a:solidFill>
              <a:srgbClr val="EAB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2679192"/>
            <a:ext cx="9235440" cy="521207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>
                <a:solidFill>
                  <a:srgbClr val="F4F8F6"/>
                </a:solidFill>
                <a:latin typeface="DejaVu Sans"/>
              </a:rPr>
              <a:t>bcrypt password hashing, refresh-token revocation, throttling, and validation are in the API.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675887"/>
            <a:ext cx="658368" cy="658368"/>
          </a:xfrm>
          <a:prstGeom prst="roundRect">
            <a:avLst/>
          </a:prstGeom>
          <a:solidFill>
            <a:srgbClr val="A8B2FF"/>
          </a:solidFill>
          <a:ln>
            <a:solidFill>
              <a:srgbClr val="A8B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3730751"/>
            <a:ext cx="9235440" cy="521207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>
                <a:solidFill>
                  <a:srgbClr val="F4F8F6"/>
                </a:solidFill>
                <a:latin typeface="DejaVu Sans"/>
              </a:rPr>
              <a:t>CSRF guard coverage exists for cookie-authenticated mutation requests.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727448"/>
            <a:ext cx="658368" cy="658368"/>
          </a:xfrm>
          <a:prstGeom prst="roundRect">
            <a:avLst/>
          </a:prstGeom>
          <a:solidFill>
            <a:srgbClr val="62CDA6"/>
          </a:solidFill>
          <a:ln>
            <a:solidFill>
              <a:srgbClr val="62C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4782312"/>
            <a:ext cx="9235440" cy="521207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>
                <a:solidFill>
                  <a:srgbClr val="F4F8F6"/>
                </a:solidFill>
                <a:latin typeface="DejaVu Sans"/>
              </a:rPr>
              <a:t>Payment webhooks capture raw body and use idempotent state transitions.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19088"/>
            <a:ext cx="310896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>
                <a:solidFill>
                  <a:srgbClr val="B5C9C3"/>
                </a:solidFill>
                <a:latin typeface="DejaVu Sans"/>
              </a:rPr>
              <a:t>08  ·  ServiceHub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6419088"/>
            <a:ext cx="329184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>
                <a:solidFill>
                  <a:srgbClr val="B5C9C3"/>
                </a:solidFill>
                <a:latin typeface="DejaVu Sans"/>
              </a:rPr>
              <a:t>PRODUCT PRESENTATION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2C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10881360" cy="4572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800" b="1">
                <a:solidFill>
                  <a:srgbClr val="F4F8F6"/>
                </a:solidFill>
                <a:latin typeface="DejaVu Sans"/>
              </a:rPr>
              <a:t>Quality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60120"/>
            <a:ext cx="10744200" cy="3200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400" b="0">
                <a:solidFill>
                  <a:srgbClr val="B5C9C3"/>
                </a:solidFill>
                <a:latin typeface="DejaVu Sans"/>
              </a:rPr>
              <a:t>What was independently verified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572768"/>
            <a:ext cx="658368" cy="658368"/>
          </a:xfrm>
          <a:prstGeom prst="roundRect">
            <a:avLst/>
          </a:prstGeom>
          <a:solidFill>
            <a:srgbClr val="62CDA6"/>
          </a:solidFill>
          <a:ln>
            <a:solidFill>
              <a:srgbClr val="62C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1627632"/>
            <a:ext cx="9235440" cy="521207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>
                <a:solidFill>
                  <a:srgbClr val="F4F8F6"/>
                </a:solidFill>
                <a:latin typeface="DejaVu Sans"/>
              </a:rPr>
              <a:t>16 July 2026: 15 API test suites passed.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624328"/>
            <a:ext cx="658368" cy="658368"/>
          </a:xfrm>
          <a:prstGeom prst="roundRect">
            <a:avLst/>
          </a:prstGeom>
          <a:solidFill>
            <a:srgbClr val="EABB5E"/>
          </a:solidFill>
          <a:ln>
            <a:solidFill>
              <a:srgbClr val="EAB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2679192"/>
            <a:ext cx="9235440" cy="521207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>
                <a:solidFill>
                  <a:srgbClr val="F4F8F6"/>
                </a:solidFill>
                <a:latin typeface="DejaVu Sans"/>
              </a:rPr>
              <a:t>220 API tests passed with no failing snapshots.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675887"/>
            <a:ext cx="658368" cy="658368"/>
          </a:xfrm>
          <a:prstGeom prst="roundRect">
            <a:avLst/>
          </a:prstGeom>
          <a:solidFill>
            <a:srgbClr val="A8B2FF"/>
          </a:solidFill>
          <a:ln>
            <a:solidFill>
              <a:srgbClr val="A8B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3730751"/>
            <a:ext cx="9235440" cy="521207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>
                <a:solidFill>
                  <a:srgbClr val="F4F8F6"/>
                </a:solidFill>
                <a:latin typeface="DejaVu Sans"/>
              </a:rPr>
              <a:t>The evidence demonstrates tested behavior—not a public production deployment.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727448"/>
            <a:ext cx="658368" cy="658368"/>
          </a:xfrm>
          <a:prstGeom prst="roundRect">
            <a:avLst/>
          </a:prstGeom>
          <a:solidFill>
            <a:srgbClr val="62CDA6"/>
          </a:solidFill>
          <a:ln>
            <a:solidFill>
              <a:srgbClr val="62C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4782312"/>
            <a:ext cx="9235440" cy="521207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>
                <a:solidFill>
                  <a:srgbClr val="F4F8F6"/>
                </a:solidFill>
                <a:latin typeface="DejaVu Sans"/>
              </a:rPr>
              <a:t>Browser acceptance, external provider tests, and deployment evidence remain separate gates.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19088"/>
            <a:ext cx="310896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>
                <a:solidFill>
                  <a:srgbClr val="B5C9C3"/>
                </a:solidFill>
                <a:latin typeface="DejaVu Sans"/>
              </a:rPr>
              <a:t>09  ·  ServiceHub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6419088"/>
            <a:ext cx="329184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>
                <a:solidFill>
                  <a:srgbClr val="B5C9C3"/>
                </a:solidFill>
                <a:latin typeface="DejaVu Sans"/>
              </a:rPr>
              <a:t>PRODUCT PRESENTATION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2C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10881360" cy="4572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800" b="1">
                <a:solidFill>
                  <a:srgbClr val="F4F8F6"/>
                </a:solidFill>
                <a:latin typeface="DejaVu Sans"/>
              </a:rPr>
              <a:t>Demo boundaries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60120"/>
            <a:ext cx="10744200" cy="3200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400" b="0">
                <a:solidFill>
                  <a:srgbClr val="B5C9C3"/>
                </a:solidFill>
                <a:latin typeface="DejaVu Sans"/>
              </a:rPr>
              <a:t>Clear claims build trust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572768"/>
            <a:ext cx="658368" cy="658368"/>
          </a:xfrm>
          <a:prstGeom prst="roundRect">
            <a:avLst/>
          </a:prstGeom>
          <a:solidFill>
            <a:srgbClr val="62CDA6"/>
          </a:solidFill>
          <a:ln>
            <a:solidFill>
              <a:srgbClr val="62C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1627632"/>
            <a:ext cx="9235440" cy="521207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>
                <a:solidFill>
                  <a:srgbClr val="F4F8F6"/>
                </a:solidFill>
                <a:latin typeface="DejaVu Sans"/>
              </a:rPr>
              <a:t>PAYMENTS_PROVIDER=mock is for development and portfolio demonstrations only.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624328"/>
            <a:ext cx="658368" cy="658368"/>
          </a:xfrm>
          <a:prstGeom prst="roundRect">
            <a:avLst/>
          </a:prstGeom>
          <a:solidFill>
            <a:srgbClr val="EABB5E"/>
          </a:solidFill>
          <a:ln>
            <a:solidFill>
              <a:srgbClr val="EAB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2679192"/>
            <a:ext cx="9235440" cy="521207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>
                <a:solidFill>
                  <a:srgbClr val="F4F8F6"/>
                </a:solidFill>
                <a:latin typeface="DejaVu Sans"/>
              </a:rPr>
              <a:t>Google (Demo) is a local simulation; it does not call Google and is not OAuth.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675887"/>
            <a:ext cx="658368" cy="658368"/>
          </a:xfrm>
          <a:prstGeom prst="roundRect">
            <a:avLst/>
          </a:prstGeom>
          <a:solidFill>
            <a:srgbClr val="A8B2FF"/>
          </a:solidFill>
          <a:ln>
            <a:solidFill>
              <a:srgbClr val="A8B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3730751"/>
            <a:ext cx="9235440" cy="521207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>
                <a:solidFill>
                  <a:srgbClr val="F4F8F6"/>
                </a:solidFill>
                <a:latin typeface="DejaVu Sans"/>
              </a:rPr>
              <a:t>Live Stripe requires secrets, verified webhooks, deployment configuration, and E2E testing.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727448"/>
            <a:ext cx="658368" cy="658368"/>
          </a:xfrm>
          <a:prstGeom prst="roundRect">
            <a:avLst/>
          </a:prstGeom>
          <a:solidFill>
            <a:srgbClr val="62CDA6"/>
          </a:solidFill>
          <a:ln>
            <a:solidFill>
              <a:srgbClr val="62C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4782312"/>
            <a:ext cx="9235440" cy="521207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>
                <a:solidFill>
                  <a:srgbClr val="F4F8F6"/>
                </a:solidFill>
                <a:latin typeface="DejaVu Sans"/>
              </a:rPr>
              <a:t>The current project is not claimed as a public marketplace handling real payments.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19088"/>
            <a:ext cx="310896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>
                <a:solidFill>
                  <a:srgbClr val="B5C9C3"/>
                </a:solidFill>
                <a:latin typeface="DejaVu Sans"/>
              </a:rPr>
              <a:t>10  ·  ServiceHub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6419088"/>
            <a:ext cx="329184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>
                <a:solidFill>
                  <a:srgbClr val="B5C9C3"/>
                </a:solidFill>
                <a:latin typeface="DejaVu Sans"/>
              </a:rPr>
              <a:t>PRODUCT PRESENTATION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2C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10881360" cy="4572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800" b="1">
                <a:solidFill>
                  <a:srgbClr val="F4F8F6"/>
                </a:solidFill>
                <a:latin typeface="DejaVu Sans"/>
              </a:rPr>
              <a:t>Next evidence gates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60120"/>
            <a:ext cx="10744200" cy="3200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400" b="0">
                <a:solidFill>
                  <a:srgbClr val="B5C9C3"/>
                </a:solidFill>
                <a:latin typeface="DejaVu Sans"/>
              </a:rPr>
              <a:t>From delivered MVP to release candidate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572768"/>
            <a:ext cx="658368" cy="658368"/>
          </a:xfrm>
          <a:prstGeom prst="roundRect">
            <a:avLst/>
          </a:prstGeom>
          <a:solidFill>
            <a:srgbClr val="62CDA6"/>
          </a:solidFill>
          <a:ln>
            <a:solidFill>
              <a:srgbClr val="62C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1627632"/>
            <a:ext cx="9235440" cy="521207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>
                <a:solidFill>
                  <a:srgbClr val="F4F8F6"/>
                </a:solidFill>
                <a:latin typeface="DejaVu Sans"/>
              </a:rPr>
              <a:t>Run browser acceptance in Arabic RTL and English LTR.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624328"/>
            <a:ext cx="658368" cy="658368"/>
          </a:xfrm>
          <a:prstGeom prst="roundRect">
            <a:avLst/>
          </a:prstGeom>
          <a:solidFill>
            <a:srgbClr val="EABB5E"/>
          </a:solidFill>
          <a:ln>
            <a:solidFill>
              <a:srgbClr val="EAB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2679192"/>
            <a:ext cx="9235440" cy="521207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>
                <a:solidFill>
                  <a:srgbClr val="F4F8F6"/>
                </a:solidFill>
                <a:latin typeface="DejaVu Sans"/>
              </a:rPr>
              <a:t>Verify live Stripe test-mode webhooks and email delivery.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675887"/>
            <a:ext cx="658368" cy="658368"/>
          </a:xfrm>
          <a:prstGeom prst="roundRect">
            <a:avLst/>
          </a:prstGeom>
          <a:solidFill>
            <a:srgbClr val="A8B2FF"/>
          </a:solidFill>
          <a:ln>
            <a:solidFill>
              <a:srgbClr val="A8B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3730751"/>
            <a:ext cx="9235440" cy="521207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>
                <a:solidFill>
                  <a:srgbClr val="F4F8F6"/>
                </a:solidFill>
                <a:latin typeface="DejaVu Sans"/>
              </a:rPr>
              <a:t>Add CI, repeatable deploy, backup/restore, monitoring, and performance baselines.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727448"/>
            <a:ext cx="658368" cy="658368"/>
          </a:xfrm>
          <a:prstGeom prst="roundRect">
            <a:avLst/>
          </a:prstGeom>
          <a:solidFill>
            <a:srgbClr val="62CDA6"/>
          </a:solidFill>
          <a:ln>
            <a:solidFill>
              <a:srgbClr val="62C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4782312"/>
            <a:ext cx="9235440" cy="521207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>
                <a:solidFill>
                  <a:srgbClr val="F4F8F6"/>
                </a:solidFill>
                <a:latin typeface="DejaVu Sans"/>
              </a:rPr>
              <a:t>Collect user feedback before extending commercial scope.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19088"/>
            <a:ext cx="310896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>
                <a:solidFill>
                  <a:srgbClr val="B5C9C3"/>
                </a:solidFill>
                <a:latin typeface="DejaVu Sans"/>
              </a:rPr>
              <a:t>11  ·  ServiceHub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6419088"/>
            <a:ext cx="329184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>
                <a:solidFill>
                  <a:srgbClr val="B5C9C3"/>
                </a:solidFill>
                <a:latin typeface="DejaVu Sans"/>
              </a:rPr>
              <a:t>PRODUCT PRESENTATION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2C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508760"/>
            <a:ext cx="10332720" cy="6400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4200" b="1">
                <a:solidFill>
                  <a:srgbClr val="62CDA6"/>
                </a:solidFill>
                <a:latin typeface="DejaVu Sans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31720"/>
            <a:ext cx="10332720" cy="5029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500" b="1">
                <a:solidFill>
                  <a:srgbClr val="F4F8F6"/>
                </a:solidFill>
                <a:latin typeface="DejaVu Sans"/>
              </a:rPr>
              <a:t>ServiceHub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3657600"/>
            <a:ext cx="9418320" cy="1005840"/>
          </a:xfrm>
          <a:prstGeom prst="roundRect">
            <a:avLst/>
          </a:prstGeom>
          <a:solidFill>
            <a:srgbClr val="152B2B"/>
          </a:solidFill>
          <a:ln>
            <a:solidFill>
              <a:srgbClr val="EAB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3840480"/>
            <a:ext cx="8869680" cy="5943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600" b="0">
                <a:solidFill>
                  <a:srgbClr val="B5C9C3"/>
                </a:solidFill>
                <a:latin typeface="DejaVu Sans"/>
              </a:rPr>
              <a:t>Clearer service discovery. Safer booking. Smarter operations.</a:t>
            </a:r>
            <a:br/>
            <a:r>
              <a:rPr sz="1600" b="0">
                <a:solidFill>
                  <a:srgbClr val="B5C9C3"/>
                </a:solidFill>
                <a:latin typeface="DejaVu Sans"/>
              </a:rPr>
              <a:t>Documentation is available in English, Arabic, and Portuguese (Brazil).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
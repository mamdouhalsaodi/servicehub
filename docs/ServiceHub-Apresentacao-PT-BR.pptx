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2C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43000"/>
            <a:ext cx="10332720" cy="7315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4400" b="1">
                <a:solidFill>
                  <a:srgbClr val="F4F8F6"/>
                </a:solidFill>
                <a:latin typeface="DejaVu Sans"/>
              </a:rPr>
              <a:t>ServiceHub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7772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400" b="1">
                <a:solidFill>
                  <a:srgbClr val="62CDA6"/>
                </a:solidFill>
                <a:latin typeface="DejaVu Sans"/>
              </a:rPr>
              <a:t>Marketplace de serviços com múltiplos fornecedores</a:t>
            </a:r>
            <a:br/>
            <a:r>
              <a:rPr sz="2400" b="1">
                <a:solidFill>
                  <a:srgbClr val="62CDA6"/>
                </a:solidFill>
                <a:latin typeface="DejaVu Sans"/>
              </a:rPr>
              <a:t>Descoberta · agendamento seguro · pagamentos · operação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4114800"/>
            <a:ext cx="3749039" cy="731520"/>
          </a:xfrm>
          <a:prstGeom prst="roundRect">
            <a:avLst/>
          </a:prstGeom>
          <a:solidFill>
            <a:srgbClr val="152B2B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4206240"/>
            <a:ext cx="356616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600" b="1">
                <a:solidFill>
                  <a:srgbClr val="F4F8F6"/>
                </a:solidFill>
                <a:latin typeface="DejaVu Sans"/>
              </a:rPr>
              <a:t>MVP de portfólio · julho de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114800"/>
            <a:ext cx="3749039" cy="731520"/>
          </a:xfrm>
          <a:prstGeom prst="roundRect">
            <a:avLst/>
          </a:prstGeom>
          <a:solidFill>
            <a:srgbClr val="152B2B"/>
          </a:solidFill>
          <a:ln>
            <a:solidFill>
              <a:srgbClr val="EAB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4206240"/>
            <a:ext cx="356616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600" b="1">
                <a:solidFill>
                  <a:srgbClr val="F4F8F6"/>
                </a:solidFill>
                <a:latin typeface="DejaVu Sans"/>
              </a:rPr>
              <a:t>Cliente · Fornecedor · Administração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2C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81360" cy="4572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800" b="1">
                <a:solidFill>
                  <a:srgbClr val="F4F8F6"/>
                </a:solidFill>
                <a:latin typeface="DejaVu Sans"/>
              </a:rPr>
              <a:t>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7442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0">
                <a:solidFill>
                  <a:srgbClr val="B5C9C3"/>
                </a:solidFill>
                <a:latin typeface="DejaVu Sans"/>
              </a:rPr>
              <a:t>Agendamento local é fragmentado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72768"/>
            <a:ext cx="658368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62763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Clientes alternam entre mensagens, chamadas e calendários desconectados.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24328"/>
            <a:ext cx="658368" cy="658368"/>
          </a:xfrm>
          <a:prstGeom prst="roundRect">
            <a:avLst/>
          </a:prstGeom>
          <a:solidFill>
            <a:srgbClr val="EABB5E"/>
          </a:solidFill>
          <a:ln>
            <a:solidFill>
              <a:srgbClr val="EAB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67919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Fornecedores não têm uma visão operacional confiável.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75887"/>
            <a:ext cx="658368" cy="658368"/>
          </a:xfrm>
          <a:prstGeom prst="roundRect">
            <a:avLst/>
          </a:prstGeom>
          <a:solidFill>
            <a:srgbClr val="A8B2FF"/>
          </a:solidFill>
          <a:ln>
            <a:solidFill>
              <a:srgbClr val="A8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730751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Horários sobrepostos geram falhas caras no serviço.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727448"/>
            <a:ext cx="658368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478231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A administração precisa de aprovações, indicadores e disputas visíveis.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19088"/>
            <a:ext cx="310896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B5C9C3"/>
                </a:solidFill>
                <a:latin typeface="DejaVu Sans"/>
              </a:rPr>
              <a:t>02  ·  ServiceHub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6419088"/>
            <a:ext cx="329184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>
                <a:solidFill>
                  <a:srgbClr val="B5C9C3"/>
                </a:solidFill>
                <a:latin typeface="DejaVu Sans"/>
              </a:rPr>
              <a:t>APRESENTAÇÃO DO PRODUTO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2C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81360" cy="4572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800" b="1">
                <a:solidFill>
                  <a:srgbClr val="F4F8F6"/>
                </a:solidFill>
                <a:latin typeface="DejaVu Sans"/>
              </a:rPr>
              <a:t>A proposta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7442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0">
                <a:solidFill>
                  <a:srgbClr val="B5C9C3"/>
                </a:solidFill>
                <a:latin typeface="DejaVu Sans"/>
              </a:rPr>
              <a:t>Uma jornada de serviço conectada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72768"/>
            <a:ext cx="658368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62763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Descoberta por categoria, preço, avaliação e serviço.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24328"/>
            <a:ext cx="658368" cy="658368"/>
          </a:xfrm>
          <a:prstGeom prst="roundRect">
            <a:avLst/>
          </a:prstGeom>
          <a:solidFill>
            <a:srgbClr val="EABB5E"/>
          </a:solidFill>
          <a:ln>
            <a:solidFill>
              <a:srgbClr val="EAB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67919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Escolha de horário disponível com hold temporário protegido.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75887"/>
            <a:ext cx="658368" cy="658368"/>
          </a:xfrm>
          <a:prstGeom prst="roundRect">
            <a:avLst/>
          </a:prstGeom>
          <a:solidFill>
            <a:srgbClr val="A8B2FF"/>
          </a:solidFill>
          <a:ln>
            <a:solidFill>
              <a:srgbClr val="A8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730751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Pagamento por uma camada de provider intercambiável.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727448"/>
            <a:ext cx="658368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478231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Reservas, mensagens, avaliações e atualizações no mesmo lugar.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19088"/>
            <a:ext cx="310896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B5C9C3"/>
                </a:solidFill>
                <a:latin typeface="DejaVu Sans"/>
              </a:rPr>
              <a:t>03  ·  ServiceHub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6419088"/>
            <a:ext cx="329184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>
                <a:solidFill>
                  <a:srgbClr val="B5C9C3"/>
                </a:solidFill>
                <a:latin typeface="DejaVu Sans"/>
              </a:rPr>
              <a:t>APRESENTAÇÃO DO PRODUTO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2C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81360" cy="4572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800" b="1">
                <a:solidFill>
                  <a:srgbClr val="F4F8F6"/>
                </a:solidFill>
                <a:latin typeface="DejaVu Sans"/>
              </a:rPr>
              <a:t>Três perfis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7442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0">
                <a:solidFill>
                  <a:srgbClr val="B5C9C3"/>
                </a:solidFill>
                <a:latin typeface="DejaVu Sans"/>
              </a:rPr>
              <a:t>Uma experiência objetiva para cada participante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72768"/>
            <a:ext cx="658368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62763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Cliente: descoberta, reserva, cancelamento, avaliação, mensagens e notificações.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24328"/>
            <a:ext cx="658368" cy="658368"/>
          </a:xfrm>
          <a:prstGeom prst="roundRect">
            <a:avLst/>
          </a:prstGeom>
          <a:solidFill>
            <a:srgbClr val="EABB5E"/>
          </a:solidFill>
          <a:ln>
            <a:solidFill>
              <a:srgbClr val="EAB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67919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Fornecedor: serviços, disponibilidade semanal, exceções, reservas e operação.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75887"/>
            <a:ext cx="658368" cy="658368"/>
          </a:xfrm>
          <a:prstGeom prst="roundRect">
            <a:avLst/>
          </a:prstGeom>
          <a:solidFill>
            <a:srgbClr val="A8B2FF"/>
          </a:solidFill>
          <a:ln>
            <a:solidFill>
              <a:srgbClr val="A8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730751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Administração: status de fornecedores, KPIs, relatórios, disputas e categorias.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19088"/>
            <a:ext cx="310896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B5C9C3"/>
                </a:solidFill>
                <a:latin typeface="DejaVu Sans"/>
              </a:rPr>
              <a:t>04  ·  ServiceHub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6419088"/>
            <a:ext cx="329184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>
                <a:solidFill>
                  <a:srgbClr val="B5C9C3"/>
                </a:solidFill>
                <a:latin typeface="DejaVu Sans"/>
              </a:rPr>
              <a:t>APRESENTAÇÃO DO PRODUTO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2C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81360" cy="4572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800" b="1">
                <a:solidFill>
                  <a:srgbClr val="F4F8F6"/>
                </a:solidFill>
                <a:latin typeface="DejaVu Sans"/>
              </a:rPr>
              <a:t>Jornada do cliente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7442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0">
                <a:solidFill>
                  <a:srgbClr val="B5C9C3"/>
                </a:solidFill>
                <a:latin typeface="DejaVu Sans"/>
              </a:rPr>
              <a:t>Fluxo claro e auditável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72768"/>
            <a:ext cx="658368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62763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Buscar e abrir o perfil de um fornecedor.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24328"/>
            <a:ext cx="658368" cy="658368"/>
          </a:xfrm>
          <a:prstGeom prst="roundRect">
            <a:avLst/>
          </a:prstGeom>
          <a:solidFill>
            <a:srgbClr val="EABB5E"/>
          </a:solidFill>
          <a:ln>
            <a:solidFill>
              <a:srgbClr val="EAB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67919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Escolher serviço, data e horário disponível.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75887"/>
            <a:ext cx="658368" cy="658368"/>
          </a:xfrm>
          <a:prstGeom prst="roundRect">
            <a:avLst/>
          </a:prstGeom>
          <a:solidFill>
            <a:srgbClr val="A8B2FF"/>
          </a:solidFill>
          <a:ln>
            <a:solidFill>
              <a:srgbClr val="A8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730751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Criar uma reserva temporária de cinco minutos durante o pagamento.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727448"/>
            <a:ext cx="658368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478231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Confirmar, receber notificações e avaliar após uma reserva elegível.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19088"/>
            <a:ext cx="310896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B5C9C3"/>
                </a:solidFill>
                <a:latin typeface="DejaVu Sans"/>
              </a:rPr>
              <a:t>05  ·  ServiceHub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6419088"/>
            <a:ext cx="329184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>
                <a:solidFill>
                  <a:srgbClr val="B5C9C3"/>
                </a:solidFill>
                <a:latin typeface="DejaVu Sans"/>
              </a:rPr>
              <a:t>APRESENTAÇÃO DO PRODUTO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2C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81360" cy="4572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800" b="1">
                <a:solidFill>
                  <a:srgbClr val="F4F8F6"/>
                </a:solidFill>
                <a:latin typeface="DejaVu Sans"/>
              </a:rPr>
              <a:t>Confiabilidade da reserva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7442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0">
                <a:solidFill>
                  <a:srgbClr val="B5C9C3"/>
                </a:solidFill>
                <a:latin typeface="DejaVu Sans"/>
              </a:rPr>
              <a:t>O banco é a autoridade final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72768"/>
            <a:ext cx="658368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62763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A constraint PostgreSQL EXCLUDE USING gist bloqueia sobreposição de reservas ativas.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24328"/>
            <a:ext cx="658368" cy="658368"/>
          </a:xfrm>
          <a:prstGeom prst="roundRect">
            <a:avLst/>
          </a:prstGeom>
          <a:solidFill>
            <a:srgbClr val="EABB5E"/>
          </a:solidFill>
          <a:ln>
            <a:solidFill>
              <a:srgbClr val="EAB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67919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A API traduz conflitos para uma resposta previsível ao cliente.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75887"/>
            <a:ext cx="658368" cy="658368"/>
          </a:xfrm>
          <a:prstGeom prst="roundRect">
            <a:avLst/>
          </a:prstGeom>
          <a:solidFill>
            <a:srgbClr val="A8B2FF"/>
          </a:solidFill>
          <a:ln>
            <a:solidFill>
              <a:srgbClr val="A8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730751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Holds expirados são liberados pelo ciclo de vida do domínio.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727448"/>
            <a:ext cx="658368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478231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O modelo foi desenhado para permanecer correto sob concorrência.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19088"/>
            <a:ext cx="310896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B5C9C3"/>
                </a:solidFill>
                <a:latin typeface="DejaVu Sans"/>
              </a:rPr>
              <a:t>06  ·  ServiceHub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6419088"/>
            <a:ext cx="329184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>
                <a:solidFill>
                  <a:srgbClr val="B5C9C3"/>
                </a:solidFill>
                <a:latin typeface="DejaVu Sans"/>
              </a:rPr>
              <a:t>APRESENTAÇÃO DO PRODUTO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2C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81360" cy="4572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800" b="1">
                <a:solidFill>
                  <a:srgbClr val="F4F8F6"/>
                </a:solidFill>
                <a:latin typeface="DejaVu Sans"/>
              </a:rPr>
              <a:t>Arquitetura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7442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0">
                <a:solidFill>
                  <a:srgbClr val="B5C9C3"/>
                </a:solidFill>
                <a:latin typeface="DejaVu Sans"/>
              </a:rPr>
              <a:t>Camadas separadas e módulos testáveis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72768"/>
            <a:ext cx="658368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62763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Next.js 14 para jornadas web por perfil.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24328"/>
            <a:ext cx="658368" cy="658368"/>
          </a:xfrm>
          <a:prstGeom prst="roundRect">
            <a:avLst/>
          </a:prstGeom>
          <a:solidFill>
            <a:srgbClr val="EABB5E"/>
          </a:solidFill>
          <a:ln>
            <a:solidFill>
              <a:srgbClr val="EAB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67919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NestJS 11 para auth, catálogo, disponibilidade, reservas, pagamentos e admin.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75887"/>
            <a:ext cx="658368" cy="658368"/>
          </a:xfrm>
          <a:prstGeom prst="roundRect">
            <a:avLst/>
          </a:prstGeom>
          <a:solidFill>
            <a:srgbClr val="A8B2FF"/>
          </a:solidFill>
          <a:ln>
            <a:solidFill>
              <a:srgbClr val="A8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730751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Prisma 5 e PostgreSQL 16 para transações, schema e migrations.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727448"/>
            <a:ext cx="658368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478231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Mock no desenvolvimento; fronteira Stripe para produção configurada.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19088"/>
            <a:ext cx="310896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B5C9C3"/>
                </a:solidFill>
                <a:latin typeface="DejaVu Sans"/>
              </a:rPr>
              <a:t>07  ·  ServiceHub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6419088"/>
            <a:ext cx="329184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>
                <a:solidFill>
                  <a:srgbClr val="B5C9C3"/>
                </a:solidFill>
                <a:latin typeface="DejaVu Sans"/>
              </a:rPr>
              <a:t>APRESENTAÇÃO DO PRODUTO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2C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81360" cy="4572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800" b="1">
                <a:solidFill>
                  <a:srgbClr val="F4F8F6"/>
                </a:solidFill>
                <a:latin typeface="DejaVu Sans"/>
              </a:rPr>
              <a:t>Base de segurança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7442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0">
                <a:solidFill>
                  <a:srgbClr val="B5C9C3"/>
                </a:solidFill>
                <a:latin typeface="DejaVu Sans"/>
              </a:rPr>
              <a:t>Proteção faz parte do contrato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72768"/>
            <a:ext cx="658368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62763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Roles e ownership / IDOR checks para ações sensíveis.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24328"/>
            <a:ext cx="658368" cy="658368"/>
          </a:xfrm>
          <a:prstGeom prst="roundRect">
            <a:avLst/>
          </a:prstGeom>
          <a:solidFill>
            <a:srgbClr val="EABB5E"/>
          </a:solidFill>
          <a:ln>
            <a:solidFill>
              <a:srgbClr val="EAB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67919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bcrypt, revogação de refresh token, throttling e validação na API.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75887"/>
            <a:ext cx="658368" cy="658368"/>
          </a:xfrm>
          <a:prstGeom prst="roundRect">
            <a:avLst/>
          </a:prstGeom>
          <a:solidFill>
            <a:srgbClr val="A8B2FF"/>
          </a:solidFill>
          <a:ln>
            <a:solidFill>
              <a:srgbClr val="A8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730751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Cobertura de CSRF para mutações autenticadas por cookie.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727448"/>
            <a:ext cx="658368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478231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Raw body para webhook e transições idempotentes de pagamento.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19088"/>
            <a:ext cx="310896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B5C9C3"/>
                </a:solidFill>
                <a:latin typeface="DejaVu Sans"/>
              </a:rPr>
              <a:t>08  ·  ServiceHub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6419088"/>
            <a:ext cx="329184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>
                <a:solidFill>
                  <a:srgbClr val="B5C9C3"/>
                </a:solidFill>
                <a:latin typeface="DejaVu Sans"/>
              </a:rPr>
              <a:t>APRESENTAÇÃO DO PRODUTO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2C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81360" cy="4572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800" b="1">
                <a:solidFill>
                  <a:srgbClr val="F4F8F6"/>
                </a:solidFill>
                <a:latin typeface="DejaVu Sans"/>
              </a:rPr>
              <a:t>Evidência de qualidade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7442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0">
                <a:solidFill>
                  <a:srgbClr val="B5C9C3"/>
                </a:solidFill>
                <a:latin typeface="DejaVu Sans"/>
              </a:rPr>
              <a:t>O que foi verificado independentemente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72768"/>
            <a:ext cx="658368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62763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16 de julho de 2026: 15 suites de API aprovadas.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24328"/>
            <a:ext cx="658368" cy="658368"/>
          </a:xfrm>
          <a:prstGeom prst="roundRect">
            <a:avLst/>
          </a:prstGeom>
          <a:solidFill>
            <a:srgbClr val="EABB5E"/>
          </a:solidFill>
          <a:ln>
            <a:solidFill>
              <a:srgbClr val="EAB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67919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220 testes de API aprovados, sem snapshots com falha.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75887"/>
            <a:ext cx="658368" cy="658368"/>
          </a:xfrm>
          <a:prstGeom prst="roundRect">
            <a:avLst/>
          </a:prstGeom>
          <a:solidFill>
            <a:srgbClr val="A8B2FF"/>
          </a:solidFill>
          <a:ln>
            <a:solidFill>
              <a:srgbClr val="A8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730751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A evidência demonstra comportamento testado, não deploy público.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727448"/>
            <a:ext cx="658368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478231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QA de navegador, providers externos e deploy permanecem gates separados.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19088"/>
            <a:ext cx="310896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B5C9C3"/>
                </a:solidFill>
                <a:latin typeface="DejaVu Sans"/>
              </a:rPr>
              <a:t>09  ·  ServiceHub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6419088"/>
            <a:ext cx="329184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>
                <a:solidFill>
                  <a:srgbClr val="B5C9C3"/>
                </a:solidFill>
                <a:latin typeface="DejaVu Sans"/>
              </a:rPr>
              <a:t>APRESENTAÇÃO DO PRODUTO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2C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81360" cy="4572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800" b="1">
                <a:solidFill>
                  <a:srgbClr val="F4F8F6"/>
                </a:solidFill>
                <a:latin typeface="DejaVu Sans"/>
              </a:rPr>
              <a:t>Limites da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7442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0">
                <a:solidFill>
                  <a:srgbClr val="B5C9C3"/>
                </a:solidFill>
                <a:latin typeface="DejaVu Sans"/>
              </a:rPr>
              <a:t>Transparência cria confiança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72768"/>
            <a:ext cx="658368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62763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PAYMENTS_PROVIDER=mock é apenas para desenvolvimento e demonstração.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24328"/>
            <a:ext cx="658368" cy="658368"/>
          </a:xfrm>
          <a:prstGeom prst="roundRect">
            <a:avLst/>
          </a:prstGeom>
          <a:solidFill>
            <a:srgbClr val="EABB5E"/>
          </a:solidFill>
          <a:ln>
            <a:solidFill>
              <a:srgbClr val="EAB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67919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Google (Demo) é uma simulação local; não é OAuth.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75887"/>
            <a:ext cx="658368" cy="658368"/>
          </a:xfrm>
          <a:prstGeom prst="roundRect">
            <a:avLst/>
          </a:prstGeom>
          <a:solidFill>
            <a:srgbClr val="A8B2FF"/>
          </a:solidFill>
          <a:ln>
            <a:solidFill>
              <a:srgbClr val="A8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730751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Stripe real exige secrets, webhooks, deploy e testes E2E.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727448"/>
            <a:ext cx="658368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478231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O projeto não é anunciado como marketplace público com pagamentos reais.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19088"/>
            <a:ext cx="310896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B5C9C3"/>
                </a:solidFill>
                <a:latin typeface="DejaVu Sans"/>
              </a:rPr>
              <a:t>10  ·  ServiceHub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6419088"/>
            <a:ext cx="329184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>
                <a:solidFill>
                  <a:srgbClr val="B5C9C3"/>
                </a:solidFill>
                <a:latin typeface="DejaVu Sans"/>
              </a:rPr>
              <a:t>APRESENTAÇÃO DO PRODUTO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2C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81360" cy="4572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800" b="1">
                <a:solidFill>
                  <a:srgbClr val="F4F8F6"/>
                </a:solidFill>
                <a:latin typeface="DejaVu Sans"/>
              </a:rPr>
              <a:t>Próximos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7442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0">
                <a:solidFill>
                  <a:srgbClr val="B5C9C3"/>
                </a:solidFill>
                <a:latin typeface="DejaVu Sans"/>
              </a:rPr>
              <a:t>Do MVP entregue ao release candidate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72768"/>
            <a:ext cx="658368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62763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Rodar aceitação de navegador em árabe RTL e inglês LTR.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24328"/>
            <a:ext cx="658368" cy="658368"/>
          </a:xfrm>
          <a:prstGeom prst="roundRect">
            <a:avLst/>
          </a:prstGeom>
          <a:solidFill>
            <a:srgbClr val="EABB5E"/>
          </a:solidFill>
          <a:ln>
            <a:solidFill>
              <a:srgbClr val="EAB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67919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Validar Stripe test mode, e-mail e webhooks em ambiente adequado.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75887"/>
            <a:ext cx="658368" cy="658368"/>
          </a:xfrm>
          <a:prstGeom prst="roundRect">
            <a:avLst/>
          </a:prstGeom>
          <a:solidFill>
            <a:srgbClr val="A8B2FF"/>
          </a:solidFill>
          <a:ln>
            <a:solidFill>
              <a:srgbClr val="A8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730751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Adicionar CI, deploy repetível, backup/restore, monitoring e performance.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727448"/>
            <a:ext cx="658368" cy="658368"/>
          </a:xfrm>
          <a:prstGeom prst="roundRect">
            <a:avLst/>
          </a:prstGeom>
          <a:solidFill>
            <a:srgbClr val="62CDA6"/>
          </a:solidFill>
          <a:ln>
            <a:solidFill>
              <a:srgbClr val="62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4782312"/>
            <a:ext cx="9235440" cy="52120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>
                <a:solidFill>
                  <a:srgbClr val="F4F8F6"/>
                </a:solidFill>
                <a:latin typeface="DejaVu Sans"/>
              </a:rPr>
              <a:t>Coletar feedback antes de expandir o escopo comercial.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19088"/>
            <a:ext cx="310896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>
                <a:solidFill>
                  <a:srgbClr val="B5C9C3"/>
                </a:solidFill>
                <a:latin typeface="DejaVu Sans"/>
              </a:rPr>
              <a:t>11  ·  ServiceHub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6419088"/>
            <a:ext cx="329184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0">
                <a:solidFill>
                  <a:srgbClr val="B5C9C3"/>
                </a:solidFill>
                <a:latin typeface="DejaVu Sans"/>
              </a:rPr>
              <a:t>APRESENTAÇÃO DO PRODUTO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2C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332720" cy="6400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4200" b="1">
                <a:solidFill>
                  <a:srgbClr val="62CDA6"/>
                </a:solidFill>
                <a:latin typeface="DejaVu Sans"/>
              </a:rPr>
              <a:t>Obrigado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033272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500" b="1">
                <a:solidFill>
                  <a:srgbClr val="F4F8F6"/>
                </a:solidFill>
                <a:latin typeface="DejaVu Sans"/>
              </a:rPr>
              <a:t>ServiceHub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657600"/>
            <a:ext cx="9418320" cy="1005840"/>
          </a:xfrm>
          <a:prstGeom prst="roundRect">
            <a:avLst/>
          </a:prstGeom>
          <a:solidFill>
            <a:srgbClr val="152B2B"/>
          </a:solidFill>
          <a:ln>
            <a:solidFill>
              <a:srgbClr val="EAB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3840480"/>
            <a:ext cx="8869680" cy="5943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600" b="0">
                <a:solidFill>
                  <a:srgbClr val="B5C9C3"/>
                </a:solidFill>
                <a:latin typeface="DejaVu Sans"/>
              </a:rPr>
              <a:t>Descoberta mais clara. Agendamento mais seguro. Operação mais inteligente.</a:t>
            </a:r>
            <a:br/>
            <a:r>
              <a:rPr sz="1600" b="0">
                <a:solidFill>
                  <a:srgbClr val="B5C9C3"/>
                </a:solidFill>
                <a:latin typeface="DejaVu Sans"/>
              </a:rPr>
              <a:t>Documentação em inglês, árabe e português (Brasil).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
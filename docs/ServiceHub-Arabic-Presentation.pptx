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4800" b="1">
                <a:solidFill>
                  <a:srgbClr val="F2F6F4"/>
                </a:solidFill>
                <a:latin typeface="DejaVu Sans"/>
              </a:rPr>
              <a:t>ServiceHub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99669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2500" b="1">
                <a:solidFill>
                  <a:srgbClr val="58B496"/>
                </a:solidFill>
                <a:latin typeface="DejaVu Sans"/>
              </a:rPr>
              <a:t>منصة موحّدة لاكتشاف الخدمات، الحجز، الدفع، وإدارة الأعمال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52928"/>
            <a:ext cx="96012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0">
                <a:solidFill>
                  <a:srgbClr val="B1C4BE"/>
                </a:solidFill>
                <a:latin typeface="DejaVu Sans"/>
              </a:rPr>
              <a:t>عرض عربي مفصل للنظام، الصفحات، المزايا، وخارطة التطوير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251960"/>
            <a:ext cx="2331720" cy="685800"/>
          </a:xfrm>
          <a:prstGeom prst="round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900" b="1">
                <a:solidFill>
                  <a:srgbClr val="0C1414"/>
                </a:solidFill>
                <a:latin typeface="DejaVu Sans"/>
              </a:rPr>
              <a:t>العميل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4251960"/>
            <a:ext cx="2331720" cy="685800"/>
          </a:xfrm>
          <a:prstGeom prst="roundRect">
            <a:avLst/>
          </a:prstGeom>
          <a:solidFill>
            <a:srgbClr val="E6B45A"/>
          </a:solidFill>
          <a:ln>
            <a:solidFill>
              <a:srgbClr val="E6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900" b="1">
                <a:solidFill>
                  <a:srgbClr val="0C1414"/>
                </a:solidFill>
                <a:latin typeface="DejaVu Sans"/>
              </a:rPr>
              <a:t>مزود الخدمة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4251960"/>
            <a:ext cx="2331720" cy="685800"/>
          </a:xfrm>
          <a:prstGeom prst="roundRect">
            <a:avLst/>
          </a:prstGeom>
          <a:solidFill>
            <a:srgbClr val="8EA7FF"/>
          </a:solidFill>
          <a:ln>
            <a:solidFill>
              <a:srgbClr val="8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900" b="1">
                <a:solidFill>
                  <a:srgbClr val="0C1414"/>
                </a:solidFill>
                <a:latin typeface="DejaVu Sans"/>
              </a:rPr>
              <a:t>الإدارة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B1C4BE"/>
                </a:solidFill>
                <a:latin typeface="DejaVu Sans"/>
              </a:rPr>
              <a:t>نسخة عرض وتجربة داخلية • يوليو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المشكلة التي يحلها ServiceHub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تجربة الحجز في الخدمات المحلية غالباً موزعة وغير قابلة للقياس.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30352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900">
                <a:solidFill>
                  <a:srgbClr val="F2F6F4"/>
                </a:solidFill>
                <a:latin typeface="DejaVu Sans"/>
              </a:rPr>
              <a:t>• العميل يتنقل بين رسائل واتساب ومكالمات ودفاتر مواعيد.</a:t>
            </a:r>
          </a:p>
          <a:p>
            <a:pPr algn="r" rtl="1">
              <a:spcAft>
                <a:spcPts val="900"/>
              </a:spcAft>
            </a:pPr>
            <a:r>
              <a:rPr sz="1900">
                <a:solidFill>
                  <a:srgbClr val="F2F6F4"/>
                </a:solidFill>
                <a:latin typeface="DejaVu Sans"/>
              </a:rPr>
              <a:t>• مزود الخدمة لا يرى صورة واحدة للحجوزات والخدمات والتوفر.</a:t>
            </a:r>
          </a:p>
          <a:p>
            <a:pPr algn="r" rtl="1">
              <a:spcAft>
                <a:spcPts val="900"/>
              </a:spcAft>
            </a:pPr>
            <a:r>
              <a:rPr sz="1900">
                <a:solidFill>
                  <a:srgbClr val="F2F6F4"/>
                </a:solidFill>
                <a:latin typeface="DejaVu Sans"/>
              </a:rPr>
              <a:t>• الإدارة تحتاج موافقات، مؤشرات تشغيل، ونزاعات قابلة للمتابعة.</a:t>
            </a:r>
          </a:p>
          <a:p>
            <a:pPr algn="r" rtl="1">
              <a:spcAft>
                <a:spcPts val="900"/>
              </a:spcAft>
            </a:pPr>
            <a:r>
              <a:rPr sz="1900">
                <a:solidFill>
                  <a:srgbClr val="F2F6F4"/>
                </a:solidFill>
                <a:latin typeface="DejaVu Sans"/>
              </a:rPr>
              <a:t>• الحجز المتزامن قد ينتج عنه تعارضات مكلفة إن لم يكن محمياً على مستوى قاعدة البيانات.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417320"/>
            <a:ext cx="4754880" cy="4069080"/>
          </a:xfrm>
          <a:prstGeom prst="roundRect">
            <a:avLst/>
          </a:prstGeom>
          <a:solidFill>
            <a:srgbClr val="16262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2300" b="1">
                <a:solidFill>
                  <a:srgbClr val="F2F6F4"/>
                </a:solidFill>
                <a:latin typeface="DejaVu Sans"/>
              </a:rPr>
              <a:t>النتيجة المطلوبة</a:t>
            </a:r>
            <a:br/>
            <a:br/>
            <a:r>
              <a:rPr sz="2300" b="1">
                <a:solidFill>
                  <a:srgbClr val="F2F6F4"/>
                </a:solidFill>
                <a:latin typeface="DejaVu Sans"/>
              </a:rPr>
              <a:t>سوق خدمات متعدد المزودين يربط الاكتشاف بالحجز والدفع والمراجعة ضمن رحلة واحدة واضحة.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الفكرة والقيمة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منصة متعددة المزودين لقطاعات مثل المطاعم والصالونات والاستشارات والصيانة.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508760"/>
            <a:ext cx="2331720" cy="1097280"/>
          </a:xfrm>
          <a:prstGeom prst="round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2200" b="1">
                <a:solidFill>
                  <a:srgbClr val="0C1414"/>
                </a:solidFill>
                <a:latin typeface="DejaVu Sans"/>
              </a:rPr>
              <a:t>اكتشف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788920"/>
            <a:ext cx="2331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400" b="0">
                <a:solidFill>
                  <a:srgbClr val="F2F6F4"/>
                </a:solidFill>
                <a:latin typeface="DejaVu Sans"/>
              </a:rPr>
              <a:t>بحث وفلاتر وخدمات ومراجعات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9472" y="1508760"/>
            <a:ext cx="2331720" cy="1097280"/>
          </a:xfrm>
          <a:prstGeom prst="roundRect">
            <a:avLst/>
          </a:prstGeom>
          <a:solidFill>
            <a:srgbClr val="E6B45A"/>
          </a:solidFill>
          <a:ln>
            <a:solidFill>
              <a:srgbClr val="E6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2200" b="1">
                <a:solidFill>
                  <a:srgbClr val="0C1414"/>
                </a:solidFill>
                <a:latin typeface="DejaVu Sans"/>
              </a:rPr>
              <a:t>احجز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9472" y="2788920"/>
            <a:ext cx="2331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400" b="0">
                <a:solidFill>
                  <a:srgbClr val="F2F6F4"/>
                </a:solidFill>
                <a:latin typeface="DejaVu Sans"/>
              </a:rPr>
              <a:t>مواعيد وتوفر وحجز آمن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508760"/>
            <a:ext cx="2331720" cy="1097280"/>
          </a:xfrm>
          <a:prstGeom prst="roundRect">
            <a:avLst/>
          </a:prstGeom>
          <a:solidFill>
            <a:srgbClr val="8EA7FF"/>
          </a:solidFill>
          <a:ln>
            <a:solidFill>
              <a:srgbClr val="8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2200" b="1">
                <a:solidFill>
                  <a:srgbClr val="0C1414"/>
                </a:solidFill>
                <a:latin typeface="DejaVu Sans"/>
              </a:rPr>
              <a:t>أدر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788920"/>
            <a:ext cx="2331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400" b="0">
                <a:solidFill>
                  <a:srgbClr val="F2F6F4"/>
                </a:solidFill>
                <a:latin typeface="DejaVu Sans"/>
              </a:rPr>
              <a:t>لوحات مزود وإدارة وتشغيل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1060704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2000" b="1">
                <a:solidFill>
                  <a:srgbClr val="F2F6F4"/>
                </a:solidFill>
                <a:latin typeface="DejaVu Sans"/>
              </a:rPr>
              <a:t>القيمة ليست في عرض قائمة خدمات فقط؛ بل في تحويل العملية كاملة إلى بيانات قابلة للتشغيل والقياس.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الأدوار الثلاثة في النظام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كل دور يملك صلاحيات ومسارات مختلفة، مع فصل واضح للبيانات.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325880"/>
            <a:ext cx="3017520" cy="4160520"/>
          </a:xfrm>
          <a:prstGeom prst="roundRect">
            <a:avLst/>
          </a:prstGeom>
          <a:solidFill>
            <a:srgbClr val="16262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8" name="TextBox 7"/>
          <p:cNvSpPr txBox="1"/>
          <p:nvPr/>
        </p:nvSpPr>
        <p:spPr>
          <a:xfrm>
            <a:off x="8275319" y="1600200"/>
            <a:ext cx="26517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2200" b="1">
                <a:solidFill>
                  <a:srgbClr val="58B496"/>
                </a:solidFill>
                <a:latin typeface="DejaVu Sans"/>
              </a:rPr>
              <a:t>العميل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331720"/>
            <a:ext cx="25603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اكتشاف ومقارنة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اختيار موعد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دفع وتقييم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25880"/>
            <a:ext cx="3017520" cy="4160520"/>
          </a:xfrm>
          <a:prstGeom prst="roundRect">
            <a:avLst/>
          </a:prstGeom>
          <a:solidFill>
            <a:srgbClr val="162626"/>
          </a:solidFill>
          <a:ln>
            <a:solidFill>
              <a:srgbClr val="E6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11" name="TextBox 10"/>
          <p:cNvSpPr txBox="1"/>
          <p:nvPr/>
        </p:nvSpPr>
        <p:spPr>
          <a:xfrm>
            <a:off x="4754880" y="1600200"/>
            <a:ext cx="26517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2200" b="1">
                <a:solidFill>
                  <a:srgbClr val="E6B45A"/>
                </a:solidFill>
                <a:latin typeface="DejaVu Sans"/>
              </a:rPr>
              <a:t>مزود الخدمة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331720"/>
            <a:ext cx="25603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إدارة الخدمات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تحديد التوفر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متابعة الحجوزات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59" y="1325880"/>
            <a:ext cx="3017520" cy="4160520"/>
          </a:xfrm>
          <a:prstGeom prst="roundRect">
            <a:avLst/>
          </a:prstGeom>
          <a:solidFill>
            <a:srgbClr val="162626"/>
          </a:solidFill>
          <a:ln>
            <a:solidFill>
              <a:srgbClr val="8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14" name="TextBox 13"/>
          <p:cNvSpPr txBox="1"/>
          <p:nvPr/>
        </p:nvSpPr>
        <p:spPr>
          <a:xfrm>
            <a:off x="1234439" y="1600200"/>
            <a:ext cx="26517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2200" b="1">
                <a:solidFill>
                  <a:srgbClr val="8EA7FF"/>
                </a:solidFill>
                <a:latin typeface="DejaVu Sans"/>
              </a:rPr>
              <a:t>الإدارة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59" y="2331720"/>
            <a:ext cx="25603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اعتماد المزودين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مؤشرات وتقارير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متابعة النزاعات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رحلة العميل: من البحث إلى التقييم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مسار واضح يقلل الاحتكاك ويوثق كل نقطة قرار.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1508760" cy="640080"/>
          </a:xfrm>
          <a:prstGeom prst="round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400" b="1">
                <a:solidFill>
                  <a:srgbClr val="0C1414"/>
                </a:solidFill>
                <a:latin typeface="DejaVu Sans"/>
              </a:rPr>
              <a:t>اكتشاف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139696"/>
            <a:ext cx="3200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58B496"/>
                </a:solidFill>
                <a:latin typeface="DejaVu Sans"/>
              </a:rPr>
              <a:t>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2011680"/>
            <a:ext cx="1508760" cy="640080"/>
          </a:xfrm>
          <a:prstGeom prst="round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400" b="1">
                <a:solidFill>
                  <a:srgbClr val="0C1414"/>
                </a:solidFill>
                <a:latin typeface="DejaVu Sans"/>
              </a:rPr>
              <a:t>صفحة المزود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8224" y="2139696"/>
            <a:ext cx="3200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58B496"/>
                </a:solidFill>
                <a:latin typeface="DejaVu Sans"/>
              </a:rPr>
              <a:t>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4" y="2011680"/>
            <a:ext cx="1508760" cy="640080"/>
          </a:xfrm>
          <a:prstGeom prst="round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400" b="1">
                <a:solidFill>
                  <a:srgbClr val="0C1414"/>
                </a:solidFill>
                <a:latin typeface="DejaVu Sans"/>
              </a:rPr>
              <a:t>اختيار الموعد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0176" y="2139696"/>
            <a:ext cx="3200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58B496"/>
                </a:solidFill>
                <a:latin typeface="DejaVu Sans"/>
              </a:rPr>
              <a:t>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1656" y="2011680"/>
            <a:ext cx="1508760" cy="640080"/>
          </a:xfrm>
          <a:prstGeom prst="round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400" b="1">
                <a:solidFill>
                  <a:srgbClr val="0C1414"/>
                </a:solidFill>
                <a:latin typeface="DejaVu Sans"/>
              </a:rPr>
              <a:t>تأكيد الدفع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139696"/>
            <a:ext cx="3200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58B496"/>
                </a:solidFill>
                <a:latin typeface="DejaVu Sans"/>
              </a:rPr>
              <a:t>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2011680"/>
            <a:ext cx="1508760" cy="640080"/>
          </a:xfrm>
          <a:prstGeom prst="round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400" b="1">
                <a:solidFill>
                  <a:srgbClr val="0C1414"/>
                </a:solidFill>
                <a:latin typeface="DejaVu Sans"/>
              </a:rPr>
              <a:t>الحجز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139696"/>
            <a:ext cx="3200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58B496"/>
                </a:solidFill>
                <a:latin typeface="DejaVu Sans"/>
              </a:rPr>
              <a:t>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60" y="2011680"/>
            <a:ext cx="1508760" cy="640080"/>
          </a:xfrm>
          <a:prstGeom prst="round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400" b="1">
                <a:solidFill>
                  <a:srgbClr val="0C1414"/>
                </a:solidFill>
                <a:latin typeface="DejaVu Sans"/>
              </a:rPr>
              <a:t>التقييم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91840"/>
            <a:ext cx="996696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800">
                <a:solidFill>
                  <a:srgbClr val="F2F6F4"/>
                </a:solidFill>
                <a:latin typeface="DejaVu Sans"/>
              </a:rPr>
              <a:t>• بحث حسب التصنيف، الاسم، السعر، والتقييم.</a:t>
            </a:r>
          </a:p>
          <a:p>
            <a:pPr algn="r" rtl="1">
              <a:spcAft>
                <a:spcPts val="900"/>
              </a:spcAft>
            </a:pPr>
            <a:r>
              <a:rPr sz="1800">
                <a:solidFill>
                  <a:srgbClr val="F2F6F4"/>
                </a:solidFill>
                <a:latin typeface="DejaVu Sans"/>
              </a:rPr>
              <a:t>• حجز محدد الوقت مع hold مدته 5 دقائق أثناء الدفع.</a:t>
            </a:r>
          </a:p>
          <a:p>
            <a:pPr algn="r" rtl="1">
              <a:spcAft>
                <a:spcPts val="900"/>
              </a:spcAft>
            </a:pPr>
            <a:r>
              <a:rPr sz="1800">
                <a:solidFill>
                  <a:srgbClr val="F2F6F4"/>
                </a:solidFill>
                <a:latin typeface="DejaVu Sans"/>
              </a:rPr>
              <a:t>• إلغاء منضبط بسياسة زمنية، ثم مراجعة من 1 إلى 5 نجوم بعد الحجز المؤكد.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صفحات العميل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الواجهة الأمامية تغطي رحلة العميل الأساسية من البداية للنهاية.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325880"/>
            <a:ext cx="2971800" cy="1325880"/>
          </a:xfrm>
          <a:prstGeom prst="roundRect">
            <a:avLst/>
          </a:prstGeom>
          <a:solidFill>
            <a:srgbClr val="16262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8" name="TextBox 7"/>
          <p:cNvSpPr txBox="1"/>
          <p:nvPr/>
        </p:nvSpPr>
        <p:spPr>
          <a:xfrm>
            <a:off x="8138159" y="1554480"/>
            <a:ext cx="260604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58B496"/>
                </a:solidFill>
                <a:latin typeface="DejaVu Sans"/>
              </a:rPr>
              <a:t>الرئيسية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2020824"/>
            <a:ext cx="25603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اكتشاف وفلاتر ومزودون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1325880"/>
            <a:ext cx="2971800" cy="1325880"/>
          </a:xfrm>
          <a:prstGeom prst="roundRect">
            <a:avLst/>
          </a:prstGeom>
          <a:solidFill>
            <a:srgbClr val="16262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11" name="TextBox 10"/>
          <p:cNvSpPr txBox="1"/>
          <p:nvPr/>
        </p:nvSpPr>
        <p:spPr>
          <a:xfrm>
            <a:off x="4571999" y="1554480"/>
            <a:ext cx="260604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58B496"/>
                </a:solidFill>
                <a:latin typeface="DejaVu Sans"/>
              </a:rPr>
              <a:t>صفحة المزود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7" y="2020824"/>
            <a:ext cx="25603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الخدمات، التفاصيل، والمراجعات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" y="1325880"/>
            <a:ext cx="2971800" cy="1325880"/>
          </a:xfrm>
          <a:prstGeom prst="roundRect">
            <a:avLst/>
          </a:prstGeom>
          <a:solidFill>
            <a:srgbClr val="16262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14" name="TextBox 13"/>
          <p:cNvSpPr txBox="1"/>
          <p:nvPr/>
        </p:nvSpPr>
        <p:spPr>
          <a:xfrm>
            <a:off x="1005839" y="1554480"/>
            <a:ext cx="260604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58B496"/>
                </a:solidFill>
                <a:latin typeface="DejaVu Sans"/>
              </a:rPr>
              <a:t>الحجز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7" y="2020824"/>
            <a:ext cx="25603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تاريخ + شبكة المواعيد المتاحة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337560"/>
            <a:ext cx="2971800" cy="1325880"/>
          </a:xfrm>
          <a:prstGeom prst="roundRect">
            <a:avLst/>
          </a:prstGeom>
          <a:solidFill>
            <a:srgbClr val="16262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17" name="TextBox 16"/>
          <p:cNvSpPr txBox="1"/>
          <p:nvPr/>
        </p:nvSpPr>
        <p:spPr>
          <a:xfrm>
            <a:off x="8138159" y="3566160"/>
            <a:ext cx="260604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58B496"/>
                </a:solidFill>
                <a:latin typeface="DejaVu Sans"/>
              </a:rPr>
              <a:t>الدفع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4032504"/>
            <a:ext cx="25603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تأكيد محاكاة الدفع أو Stripe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19" y="3337560"/>
            <a:ext cx="2971800" cy="1325880"/>
          </a:xfrm>
          <a:prstGeom prst="roundRect">
            <a:avLst/>
          </a:prstGeom>
          <a:solidFill>
            <a:srgbClr val="16262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20" name="TextBox 19"/>
          <p:cNvSpPr txBox="1"/>
          <p:nvPr/>
        </p:nvSpPr>
        <p:spPr>
          <a:xfrm>
            <a:off x="4571999" y="3566160"/>
            <a:ext cx="260604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58B496"/>
                </a:solidFill>
                <a:latin typeface="DejaVu Sans"/>
              </a:rPr>
              <a:t>حجوزاتي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7" y="4032504"/>
            <a:ext cx="25603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الحالة، الإلغاء، والتقييم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" y="3337560"/>
            <a:ext cx="2971800" cy="1325880"/>
          </a:xfrm>
          <a:prstGeom prst="roundRect">
            <a:avLst/>
          </a:prstGeom>
          <a:solidFill>
            <a:srgbClr val="16262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23" name="TextBox 22"/>
          <p:cNvSpPr txBox="1"/>
          <p:nvPr/>
        </p:nvSpPr>
        <p:spPr>
          <a:xfrm>
            <a:off x="1005839" y="3566160"/>
            <a:ext cx="260604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58B496"/>
                </a:solidFill>
                <a:latin typeface="DejaVu Sans"/>
              </a:rPr>
              <a:t>الإشعارات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7" y="4032504"/>
            <a:ext cx="25603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تنبيهات الحجز والدفع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صفحات مزود الخدمة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لوحة تشغيل تستبدل الجداول المتناثرة بمصدر بيانات واحد.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30352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800">
                <a:solidFill>
                  <a:srgbClr val="F2F6F4"/>
                </a:solidFill>
                <a:latin typeface="DejaVu Sans"/>
              </a:rPr>
              <a:t>• لوحة KPI: حجوزات اليوم، الإيراد المؤكد، الإلغاءات، والخدمات الأكثر طلباً.</a:t>
            </a:r>
          </a:p>
          <a:p>
            <a:pPr algn="r" rtl="1">
              <a:spcAft>
                <a:spcPts val="900"/>
              </a:spcAft>
            </a:pPr>
            <a:r>
              <a:rPr sz="1800">
                <a:solidFill>
                  <a:srgbClr val="F2F6F4"/>
                </a:solidFill>
                <a:latin typeface="DejaVu Sans"/>
              </a:rPr>
              <a:t>• الخدمات: إضافة وتعديل وتعطيل الخدمة مع السعر والمدة والتصنيف.</a:t>
            </a:r>
          </a:p>
          <a:p>
            <a:pPr algn="r" rtl="1">
              <a:spcAft>
                <a:spcPts val="900"/>
              </a:spcAft>
            </a:pPr>
            <a:r>
              <a:rPr sz="1800">
                <a:solidFill>
                  <a:srgbClr val="F2F6F4"/>
                </a:solidFill>
                <a:latin typeface="DejaVu Sans"/>
              </a:rPr>
              <a:t>• الجدول الأسبوعي: تحديد فترات التوفر وحفظها في API، لا في localStorage.</a:t>
            </a:r>
          </a:p>
          <a:p>
            <a:pPr algn="r" rtl="1">
              <a:spcAft>
                <a:spcPts val="900"/>
              </a:spcAft>
            </a:pPr>
            <a:r>
              <a:rPr sz="1800">
                <a:solidFill>
                  <a:srgbClr val="F2F6F4"/>
                </a:solidFill>
                <a:latin typeface="DejaVu Sans"/>
              </a:rPr>
              <a:t>• الحجوزات: عرض حجوزات المزود وإدارة الإلغاء ضمن الصلاحيات.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25880"/>
            <a:ext cx="4846320" cy="4206240"/>
          </a:xfrm>
          <a:prstGeom prst="roundRect">
            <a:avLst/>
          </a:prstGeom>
          <a:solidFill>
            <a:srgbClr val="162626"/>
          </a:solidFill>
          <a:ln>
            <a:solidFill>
              <a:srgbClr val="E6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2100" b="1">
                <a:solidFill>
                  <a:srgbClr val="F2F6F4"/>
                </a:solidFill>
                <a:latin typeface="DejaVu Sans"/>
              </a:rPr>
              <a:t>تحسين حديث</a:t>
            </a:r>
            <a:br/>
            <a:br/>
            <a:r>
              <a:rPr sz="2100" b="1">
                <a:solidFill>
                  <a:srgbClr val="F2F6F4"/>
                </a:solidFill>
                <a:latin typeface="DejaVu Sans"/>
              </a:rPr>
              <a:t>تم ربط لوحة Vendor بمصادر API حقيقية، مع حالات تحميل وخطأ وفراغ، وإزالة بيانات العرض المؤقتة.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صفحة الإدارة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طبقة تشغيل وإشراف وليست مجرد شاشة تقارير.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25880"/>
            <a:ext cx="3337560" cy="1325880"/>
          </a:xfrm>
          <a:prstGeom prst="roundRect">
            <a:avLst/>
          </a:prstGeom>
          <a:solidFill>
            <a:srgbClr val="162626"/>
          </a:solidFill>
          <a:ln>
            <a:solidFill>
              <a:srgbClr val="8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8" name="TextBox 7"/>
          <p:cNvSpPr txBox="1"/>
          <p:nvPr/>
        </p:nvSpPr>
        <p:spPr>
          <a:xfrm>
            <a:off x="8046719" y="1554480"/>
            <a:ext cx="2971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8EA7FF"/>
                </a:solidFill>
                <a:latin typeface="DejaVu Sans"/>
              </a:rPr>
              <a:t>المزودون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2039112"/>
            <a:ext cx="2971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اعتماد، تعليق، ومتابعة الحالة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325880"/>
            <a:ext cx="3337560" cy="1325880"/>
          </a:xfrm>
          <a:prstGeom prst="roundRect">
            <a:avLst/>
          </a:prstGeom>
          <a:solidFill>
            <a:srgbClr val="162626"/>
          </a:solidFill>
          <a:ln>
            <a:solidFill>
              <a:srgbClr val="8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11" name="TextBox 10"/>
          <p:cNvSpPr txBox="1"/>
          <p:nvPr/>
        </p:nvSpPr>
        <p:spPr>
          <a:xfrm>
            <a:off x="4160520" y="1554480"/>
            <a:ext cx="2971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8EA7FF"/>
                </a:solidFill>
                <a:latin typeface="DejaVu Sans"/>
              </a:rPr>
              <a:t>المؤشرات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039112"/>
            <a:ext cx="2971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المستخدمون، GMV، والعمولة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337560"/>
            <a:ext cx="3337560" cy="1325880"/>
          </a:xfrm>
          <a:prstGeom prst="roundRect">
            <a:avLst/>
          </a:prstGeom>
          <a:solidFill>
            <a:srgbClr val="162626"/>
          </a:solidFill>
          <a:ln>
            <a:solidFill>
              <a:srgbClr val="8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14" name="TextBox 13"/>
          <p:cNvSpPr txBox="1"/>
          <p:nvPr/>
        </p:nvSpPr>
        <p:spPr>
          <a:xfrm>
            <a:off x="8046719" y="3566160"/>
            <a:ext cx="2971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8EA7FF"/>
                </a:solidFill>
                <a:latin typeface="DejaVu Sans"/>
              </a:rPr>
              <a:t>التقارير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4050792"/>
            <a:ext cx="2971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اتجاه الإيرادات وأفضل المزودين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3337560"/>
            <a:ext cx="3337560" cy="1325880"/>
          </a:xfrm>
          <a:prstGeom prst="roundRect">
            <a:avLst/>
          </a:prstGeom>
          <a:solidFill>
            <a:srgbClr val="162626"/>
          </a:solidFill>
          <a:ln>
            <a:solidFill>
              <a:srgbClr val="8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17" name="TextBox 16"/>
          <p:cNvSpPr txBox="1"/>
          <p:nvPr/>
        </p:nvSpPr>
        <p:spPr>
          <a:xfrm>
            <a:off x="4160520" y="3566160"/>
            <a:ext cx="2971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800" b="1">
                <a:solidFill>
                  <a:srgbClr val="8EA7FF"/>
                </a:solidFill>
                <a:latin typeface="DejaVu Sans"/>
              </a:rPr>
              <a:t>النزاعات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050792"/>
            <a:ext cx="2971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قائمة الحجوزات الملغاة وحالاتها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المعمارية التقنية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فصل واضح بين الواجهة، API، وقاعدة البيانات مع وحدات قابلة للاختبار.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965960"/>
            <a:ext cx="2971800" cy="1143000"/>
          </a:xfrm>
          <a:prstGeom prst="round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2100" b="1">
                <a:solidFill>
                  <a:srgbClr val="0C1414"/>
                </a:solidFill>
                <a:latin typeface="DejaVu Sans"/>
              </a:rPr>
              <a:t>Next.js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246120"/>
            <a:ext cx="2971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واجهة App Router + Tailwind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65960"/>
            <a:ext cx="2971800" cy="1143000"/>
          </a:xfrm>
          <a:prstGeom prst="roundRect">
            <a:avLst/>
          </a:prstGeom>
          <a:solidFill>
            <a:srgbClr val="E6B45A"/>
          </a:solidFill>
          <a:ln>
            <a:solidFill>
              <a:srgbClr val="E6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2100" b="1">
                <a:solidFill>
                  <a:srgbClr val="0C1414"/>
                </a:solidFill>
                <a:latin typeface="DejaVu Sans"/>
              </a:rPr>
              <a:t>NestJS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46120"/>
            <a:ext cx="2971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REST API + وحدات المجال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965960"/>
            <a:ext cx="2971800" cy="1143000"/>
          </a:xfrm>
          <a:prstGeom prst="roundRect">
            <a:avLst/>
          </a:prstGeom>
          <a:solidFill>
            <a:srgbClr val="8EA7FF"/>
          </a:solidFill>
          <a:ln>
            <a:solidFill>
              <a:srgbClr val="8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2100" b="1">
                <a:solidFill>
                  <a:srgbClr val="0C1414"/>
                </a:solidFill>
                <a:latin typeface="DejaVu Sans"/>
              </a:rPr>
              <a:t>PostgreSQL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2971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Prisma + migrations +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67712"/>
            <a:ext cx="685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2500" b="1">
                <a:solidFill>
                  <a:srgbClr val="B1C4BE"/>
                </a:solidFill>
                <a:latin typeface="DejaVu Sans"/>
              </a:rPr>
              <a:t>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267712"/>
            <a:ext cx="685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2500" b="1">
                <a:solidFill>
                  <a:srgbClr val="B1C4BE"/>
                </a:solidFill>
                <a:latin typeface="DejaVu Sans"/>
              </a:rPr>
              <a:t>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60"/>
            <a:ext cx="1014984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Auth: JWT في HttpOnly cookies + CSRF للطلبات المتغيرة.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Payments: provider abstraction بين Stripe للإنتاج وMock للتجربة.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Notifications: REST polling موثق كاختيار MVP.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موثوقية الحجز والأمان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نقاط الحماية التي تجعل النظام مناسباً للتجربة الجادة لا للعرض الشكلي فقط.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234440"/>
            <a:ext cx="4160520" cy="804672"/>
          </a:xfrm>
          <a:prstGeom prst="round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700" b="1">
                <a:solidFill>
                  <a:srgbClr val="0C1414"/>
                </a:solidFill>
                <a:latin typeface="DejaVu Sans"/>
              </a:rPr>
              <a:t>منع double booking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44168"/>
            <a:ext cx="58064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400" b="0">
                <a:solidFill>
                  <a:srgbClr val="F2F6F4"/>
                </a:solidFill>
                <a:latin typeface="DejaVu Sans"/>
              </a:rPr>
              <a:t>PostgreSQL EXCLUDE constraint هو مصدر الحقيقة حتى تحت التزامن.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377440"/>
            <a:ext cx="4160520" cy="804672"/>
          </a:xfrm>
          <a:prstGeom prst="round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700" b="1">
                <a:solidFill>
                  <a:srgbClr val="0C1414"/>
                </a:solidFill>
                <a:latin typeface="DejaVu Sans"/>
              </a:rPr>
              <a:t>صلاحيات وعزل بيانات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87168"/>
            <a:ext cx="58064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400" b="0">
                <a:solidFill>
                  <a:srgbClr val="F2F6F4"/>
                </a:solidFill>
                <a:latin typeface="DejaVu Sans"/>
              </a:rPr>
              <a:t>Customer / Vendor / Admin مع tenant-scoped reads وIDOR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3520440"/>
            <a:ext cx="4160520" cy="804672"/>
          </a:xfrm>
          <a:prstGeom prst="round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700" b="1">
                <a:solidFill>
                  <a:srgbClr val="0C1414"/>
                </a:solidFill>
                <a:latin typeface="DejaVu Sans"/>
              </a:rPr>
              <a:t>جلسات آمنة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30168"/>
            <a:ext cx="58064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400" b="0">
                <a:solidFill>
                  <a:srgbClr val="F2F6F4"/>
                </a:solidFill>
                <a:latin typeface="DejaVu Sans"/>
              </a:rPr>
              <a:t>HttpOnly access/refresh cookies؛ لا JWT قابل للقراءة في JavaScript.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4663440"/>
            <a:ext cx="4160520" cy="804672"/>
          </a:xfrm>
          <a:prstGeom prst="round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700" b="1">
                <a:solidFill>
                  <a:srgbClr val="0C1414"/>
                </a:solidFill>
                <a:latin typeface="DejaVu Sans"/>
              </a:rPr>
              <a:t>CSRF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73168"/>
            <a:ext cx="58064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400" b="0">
                <a:solidFill>
                  <a:srgbClr val="F2F6F4"/>
                </a:solidFill>
                <a:latin typeface="DejaVu Sans"/>
              </a:rPr>
              <a:t>double-submit token للطلبات POST/PUT/PATCH/DELETE في cookie-auth.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حدود العرض الحالية بوضوح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الشفافية جزء من جودة المنتج.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0652760" cy="1051560"/>
          </a:xfrm>
          <a:prstGeom prst="roundRect">
            <a:avLst/>
          </a:prstGeom>
          <a:solidFill>
            <a:srgbClr val="162626"/>
          </a:solidFill>
          <a:ln>
            <a:solidFill>
              <a:srgbClr val="E6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900" b="1">
                <a:solidFill>
                  <a:srgbClr val="F2F6F4"/>
                </a:solidFill>
                <a:latin typeface="DejaVu Sans"/>
              </a:rPr>
              <a:t>Google (Demo) محاكاة محلية فقط — لا OAuth حقيقي، لا بيانات اعتماد Google، ولا هوية خارجية.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1014984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700">
                <a:solidFill>
                  <a:srgbClr val="F2F6F4"/>
                </a:solidFill>
                <a:latin typeface="DejaVu Sans"/>
              </a:rPr>
              <a:t>• الدفع يمكن تجربته عبر Mock provider؛ Stripe هو مسار الإنتاج عند إضافة الأسرار وwebhook.</a:t>
            </a:r>
          </a:p>
          <a:p>
            <a:pPr algn="r" rtl="1">
              <a:spcAft>
                <a:spcPts val="900"/>
              </a:spcAft>
            </a:pPr>
            <a:r>
              <a:rPr sz="1700">
                <a:solidFill>
                  <a:srgbClr val="F2F6F4"/>
                </a:solidFill>
                <a:latin typeface="DejaVu Sans"/>
              </a:rPr>
              <a:t>• التنبيهات تعمل عبر REST polling، وليست WebSocket حالياً.</a:t>
            </a:r>
          </a:p>
          <a:p>
            <a:pPr algn="r" rtl="1">
              <a:spcAft>
                <a:spcPts val="900"/>
              </a:spcAft>
            </a:pPr>
            <a:r>
              <a:rPr sz="1700">
                <a:solidFill>
                  <a:srgbClr val="F2F6F4"/>
                </a:solidFill>
                <a:latin typeface="DejaVu Sans"/>
              </a:rPr>
              <a:t>• الروابط الحالية للاختبار داخل tailnet؛ ليست نشر إنترنت عام.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ما تم التحقق منه حتى الآن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الأرقام هنا ناتجة عن تنفيذ واختبارات فعلية في نسخة العرض.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2926080" cy="1554480"/>
          </a:xfrm>
          <a:prstGeom prst="roundRect">
            <a:avLst/>
          </a:prstGeom>
          <a:solidFill>
            <a:srgbClr val="16262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8" name="TextBox 7"/>
          <p:cNvSpPr txBox="1"/>
          <p:nvPr/>
        </p:nvSpPr>
        <p:spPr>
          <a:xfrm>
            <a:off x="8183880" y="1719072"/>
            <a:ext cx="26517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2800" b="1">
                <a:solidFill>
                  <a:srgbClr val="58B496"/>
                </a:solidFill>
                <a:latin typeface="DejaVu Sans"/>
              </a:rPr>
              <a:t>91/91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331720"/>
            <a:ext cx="2651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اختبارات API ناجحة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63040"/>
            <a:ext cx="2926080" cy="1554480"/>
          </a:xfrm>
          <a:prstGeom prst="roundRect">
            <a:avLst/>
          </a:prstGeom>
          <a:solidFill>
            <a:srgbClr val="162626"/>
          </a:solidFill>
          <a:ln>
            <a:solidFill>
              <a:srgbClr val="E6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11" name="TextBox 10"/>
          <p:cNvSpPr txBox="1"/>
          <p:nvPr/>
        </p:nvSpPr>
        <p:spPr>
          <a:xfrm>
            <a:off x="4663440" y="1719072"/>
            <a:ext cx="26517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2800" b="1">
                <a:solidFill>
                  <a:srgbClr val="E6B45A"/>
                </a:solidFill>
                <a:latin typeface="DejaVu Sans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651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صفحة Web تُبنى بنجاح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1463040"/>
            <a:ext cx="2926080" cy="1554480"/>
          </a:xfrm>
          <a:prstGeom prst="roundRect">
            <a:avLst/>
          </a:prstGeom>
          <a:solidFill>
            <a:srgbClr val="162626"/>
          </a:solidFill>
          <a:ln>
            <a:solidFill>
              <a:srgbClr val="8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14" name="TextBox 13"/>
          <p:cNvSpPr txBox="1"/>
          <p:nvPr/>
        </p:nvSpPr>
        <p:spPr>
          <a:xfrm>
            <a:off x="1143000" y="1719072"/>
            <a:ext cx="26517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2800" b="1">
                <a:solidFill>
                  <a:srgbClr val="8EA7FF"/>
                </a:solidFill>
                <a:latin typeface="DejaVu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331720"/>
            <a:ext cx="2651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300" b="0">
                <a:solidFill>
                  <a:srgbClr val="F2F6F4"/>
                </a:solidFill>
                <a:latin typeface="DejaVu Sans"/>
              </a:rPr>
              <a:t>أدوار أساسية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60"/>
            <a:ext cx="1014984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API وWeb production builds ناجحة.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Vendor dashboard تحقق من tenant isolation، بما فيه اختبار بيانات Vendor ثانٍ.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F2F6F4"/>
                </a:solidFill>
                <a:latin typeface="DejaVu Sans"/>
              </a:rPr>
              <a:t>• اختبارات CSRF تثبت الرفض بدون token والنجاح مع token صحيح.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خطة الاختبار القادمة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بعد تجربة المنتج، نتحول من بناء المزايا إلى evidence قبل أي ادعاء Release جاهز.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143000"/>
            <a:ext cx="32918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800" b="1">
                <a:solidFill>
                  <a:srgbClr val="58B496"/>
                </a:solidFill>
                <a:latin typeface="DejaVu Sans"/>
              </a:rPr>
              <a:t>1. تجربة يدوية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6400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600" b="0">
                <a:solidFill>
                  <a:srgbClr val="F2F6F4"/>
                </a:solidFill>
                <a:latin typeface="DejaVu Sans"/>
              </a:rPr>
              <a:t>تجربة العميل، Vendor، Admin وتسجيل الملاحظات.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286000"/>
            <a:ext cx="32918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800" b="1">
                <a:solidFill>
                  <a:srgbClr val="58B496"/>
                </a:solidFill>
                <a:latin typeface="DejaVu Sans"/>
              </a:rPr>
              <a:t>2. قبول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6400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600" b="0">
                <a:solidFill>
                  <a:srgbClr val="F2F6F4"/>
                </a:solidFill>
                <a:latin typeface="DejaVu Sans"/>
              </a:rPr>
              <a:t>صلاحيات، transitions، validation، أخطاء متوقعة.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429000"/>
            <a:ext cx="32918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800" b="1">
                <a:solidFill>
                  <a:srgbClr val="58B496"/>
                </a:solidFill>
                <a:latin typeface="DejaVu Sans"/>
              </a:rPr>
              <a:t>3. E2E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6400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600" b="0">
                <a:solidFill>
                  <a:srgbClr val="F2F6F4"/>
                </a:solidFill>
                <a:latin typeface="DejaVu Sans"/>
              </a:rPr>
              <a:t>رحلات الحجز والدفع والإلغاء من المتصفح.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2918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800" b="1">
                <a:solidFill>
                  <a:srgbClr val="58B496"/>
                </a:solidFill>
                <a:latin typeface="DejaVu Sans"/>
              </a:rPr>
              <a:t>4. أداء وRace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6400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600" b="0">
                <a:solidFill>
                  <a:srgbClr val="F2F6F4"/>
                </a:solidFill>
                <a:latin typeface="DejaVu Sans"/>
              </a:rPr>
              <a:t>التزامن، زمن الاستجابة، وقياس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المزايا المستقبلية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مسار واضح بعد تثبيت النسخة الأساسية واختبارها.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097280"/>
            <a:ext cx="2331720" cy="594360"/>
          </a:xfrm>
          <a:prstGeom prst="roundRect">
            <a:avLst/>
          </a:prstGeom>
          <a:solidFill>
            <a:srgbClr val="E6B45A"/>
          </a:solidFill>
          <a:ln>
            <a:solidFill>
              <a:srgbClr val="E6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500" b="1">
                <a:solidFill>
                  <a:srgbClr val="0C1414"/>
                </a:solidFill>
                <a:latin typeface="DejaVu Sans"/>
              </a:rPr>
              <a:t>i18n كامل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7223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400" b="0">
                <a:solidFill>
                  <a:srgbClr val="F2F6F4"/>
                </a:solidFill>
                <a:latin typeface="DejaVu Sans"/>
              </a:rPr>
              <a:t>Arabic RTL وEnglish LTR مع language switcher ومسارات locale.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039112"/>
            <a:ext cx="2331720" cy="594360"/>
          </a:xfrm>
          <a:prstGeom prst="roundRect">
            <a:avLst/>
          </a:prstGeom>
          <a:solidFill>
            <a:srgbClr val="E6B45A"/>
          </a:solidFill>
          <a:ln>
            <a:solidFill>
              <a:srgbClr val="E6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500" b="1">
                <a:solidFill>
                  <a:srgbClr val="0C1414"/>
                </a:solidFill>
                <a:latin typeface="DejaVu Sans"/>
              </a:rPr>
              <a:t>Lifecycle وتنبيهات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30552"/>
            <a:ext cx="7223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400" b="0">
                <a:solidFill>
                  <a:srgbClr val="F2F6F4"/>
                </a:solidFill>
                <a:latin typeface="DejaVu Sans"/>
              </a:rPr>
              <a:t>Reminders 24h/1h، dedup، وإثبات booking race E2E.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980944"/>
            <a:ext cx="2331720" cy="594360"/>
          </a:xfrm>
          <a:prstGeom prst="roundRect">
            <a:avLst/>
          </a:prstGeom>
          <a:solidFill>
            <a:srgbClr val="E6B45A"/>
          </a:solidFill>
          <a:ln>
            <a:solidFill>
              <a:srgbClr val="E6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500" b="1">
                <a:solidFill>
                  <a:srgbClr val="0C1414"/>
                </a:solidFill>
                <a:latin typeface="DejaVu Sans"/>
              </a:rPr>
              <a:t>تجاري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72384"/>
            <a:ext cx="7223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400" b="0">
                <a:solidFill>
                  <a:srgbClr val="F2F6F4"/>
                </a:solidFill>
                <a:latin typeface="DejaVu Sans"/>
              </a:rPr>
              <a:t>إعداد العمولة، CSV، طلبات payout، ومراجعة البلاغات.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922776"/>
            <a:ext cx="2331720" cy="594360"/>
          </a:xfrm>
          <a:prstGeom prst="roundRect">
            <a:avLst/>
          </a:prstGeom>
          <a:solidFill>
            <a:srgbClr val="E6B45A"/>
          </a:solidFill>
          <a:ln>
            <a:solidFill>
              <a:srgbClr val="E6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500" b="1">
                <a:solidFill>
                  <a:srgbClr val="0C1414"/>
                </a:solidFill>
                <a:latin typeface="DejaVu Sans"/>
              </a:rPr>
              <a:t>مراسلة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5"/>
            <a:ext cx="7223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400" b="0">
                <a:solidFill>
                  <a:srgbClr val="F2F6F4"/>
                </a:solidFill>
                <a:latin typeface="DejaVu Sans"/>
              </a:rPr>
              <a:t>رسائل مرتبطة بالحجز مع صلاحيات participants وpagination.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4864608"/>
            <a:ext cx="2331720" cy="594360"/>
          </a:xfrm>
          <a:prstGeom prst="roundRect">
            <a:avLst/>
          </a:prstGeom>
          <a:solidFill>
            <a:srgbClr val="E6B45A"/>
          </a:solidFill>
          <a:ln>
            <a:solidFill>
              <a:srgbClr val="E6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1500" b="1">
                <a:solidFill>
                  <a:srgbClr val="0C1414"/>
                </a:solidFill>
                <a:latin typeface="DejaVu Sans"/>
              </a:rPr>
              <a:t>تشغيل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56048"/>
            <a:ext cx="7223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400" b="0">
                <a:solidFill>
                  <a:srgbClr val="F2F6F4"/>
                </a:solidFill>
                <a:latin typeface="DejaVu Sans"/>
              </a:rPr>
              <a:t>Swagger، CI، Docker، backups، metrics وrelease acceptance.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سيناريو التجربة المقترح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ابدأ بالمسار الذي يظهر قيمة المنصة بأسرع شكل.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1033272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800">
                <a:solidFill>
                  <a:srgbClr val="F2F6F4"/>
                </a:solidFill>
                <a:latin typeface="DejaVu Sans"/>
              </a:rPr>
              <a:t>• افتح الرابط وسجل عبر Google (Demo) — ستظهر عبارة توضح أنها محاكاة فقط.</a:t>
            </a:r>
          </a:p>
          <a:p>
            <a:pPr algn="r" rtl="1">
              <a:spcAft>
                <a:spcPts val="900"/>
              </a:spcAft>
            </a:pPr>
            <a:r>
              <a:rPr sz="1800">
                <a:solidFill>
                  <a:srgbClr val="F2F6F4"/>
                </a:solidFill>
                <a:latin typeface="DejaVu Sans"/>
              </a:rPr>
              <a:t>• اكتشف مزوداً، افتح صفحة خدماته، واختر موعداً متاحاً.</a:t>
            </a:r>
          </a:p>
          <a:p>
            <a:pPr algn="r" rtl="1">
              <a:spcAft>
                <a:spcPts val="900"/>
              </a:spcAft>
            </a:pPr>
            <a:r>
              <a:rPr sz="1800">
                <a:solidFill>
                  <a:srgbClr val="F2F6F4"/>
                </a:solidFill>
                <a:latin typeface="DejaVu Sans"/>
              </a:rPr>
              <a:t>• أنشئ حجزاً ثم جرّب Mock payment confirmation.</a:t>
            </a:r>
          </a:p>
          <a:p>
            <a:pPr algn="r" rtl="1">
              <a:spcAft>
                <a:spcPts val="900"/>
              </a:spcAft>
            </a:pPr>
            <a:r>
              <a:rPr sz="1800">
                <a:solidFill>
                  <a:srgbClr val="F2F6F4"/>
                </a:solidFill>
                <a:latin typeface="DejaVu Sans"/>
              </a:rPr>
              <a:t>• افتح حجوزاتي ثم الإشعارات؛ جرّب الإلغاء إن كان الموعد أبعد من 24 ساعة.</a:t>
            </a:r>
          </a:p>
          <a:p>
            <a:pPr algn="r" rtl="1">
              <a:spcAft>
                <a:spcPts val="900"/>
              </a:spcAft>
            </a:pPr>
            <a:r>
              <a:rPr sz="1800">
                <a:solidFill>
                  <a:srgbClr val="F2F6F4"/>
                </a:solidFill>
                <a:latin typeface="DejaVu Sans"/>
              </a:rPr>
              <a:t>• لـ Vendor/Admin: استخدم حساباً مناسباً في قاعدة التجربة عند توفره، ثم راقب dashboard والخدمات والجدول.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49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r" rtl="1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2700" b="1">
                <a:solidFill>
                  <a:srgbClr val="F2F6F4"/>
                </a:solidFill>
                <a:latin typeface="DejaVu Sans"/>
              </a:rPr>
              <a:t>الخلاصة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200" b="0">
                <a:solidFill>
                  <a:srgbClr val="B1C4BE"/>
                </a:solidFill>
                <a:latin typeface="DejaVu Sans"/>
              </a:rPr>
              <a:t>ServiceHub أصبح MVP متعدد الأدوار قابلاً للتجربة، مع مسار واضح لتحويله إلى Release Candidate مختبر.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rtl="1"/>
            <a:r>
              <a:rPr sz="1000" b="0">
                <a:solidFill>
                  <a:srgbClr val="B1C4BE"/>
                </a:solidFill>
                <a:latin typeface="DejaVu San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 rtl="1"/>
            <a:r>
              <a:rPr sz="1000" b="0">
                <a:solidFill>
                  <a:srgbClr val="B1C4BE"/>
                </a:solidFill>
                <a:latin typeface="DejaVu Sans"/>
              </a:rPr>
              <a:t>ServiceHub • عرض المنتج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417320"/>
            <a:ext cx="10104120" cy="1143000"/>
          </a:xfrm>
          <a:prstGeom prst="roundRect">
            <a:avLst/>
          </a:prstGeom>
          <a:solidFill>
            <a:srgbClr val="162626"/>
          </a:solidFill>
          <a:ln>
            <a:solidFill>
              <a:srgbClr val="58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 rtl="1"/>
            <a:r>
              <a:rPr sz="2400" b="1">
                <a:solidFill>
                  <a:srgbClr val="F2F6F4"/>
                </a:solidFill>
                <a:latin typeface="DejaVu Sans"/>
              </a:rPr>
              <a:t>الآن: تجربة المستخدم وجمع الملاحظات.</a:t>
            </a:r>
            <a:br/>
            <a:r>
              <a:rPr sz="2400" b="1">
                <a:solidFill>
                  <a:srgbClr val="F2F6F4"/>
                </a:solidFill>
                <a:latin typeface="DejaVu Sans"/>
              </a:rPr>
              <a:t>بعدها: نثبت النطاق ونبني acceptance evidence قبل الإطلاق.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40480"/>
            <a:ext cx="9784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3000" b="1">
                <a:solidFill>
                  <a:srgbClr val="58B496"/>
                </a:solidFill>
                <a:latin typeface="DejaVu Sans"/>
              </a:rPr>
              <a:t>شكراً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434840"/>
            <a:ext cx="97840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/>
            <a:r>
              <a:rPr sz="1700" b="0">
                <a:solidFill>
                  <a:srgbClr val="B1C4BE"/>
                </a:solidFill>
                <a:latin typeface="DejaVu Sans"/>
              </a:rPr>
              <a:t>ServiceHub — خدمة أوضح، حجز أضمن، وتشغيل أذكى.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